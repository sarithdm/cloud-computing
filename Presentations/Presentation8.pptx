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73" r:id="rId6"/>
    <p:sldId id="261" r:id="rId7"/>
    <p:sldId id="262" r:id="rId8"/>
    <p:sldId id="272" r:id="rId9"/>
    <p:sldId id="263" r:id="rId10"/>
    <p:sldId id="264" r:id="rId11"/>
    <p:sldId id="27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embeddedFontLst>
    <p:embeddedFont>
      <p:font typeface="Figtree" pitchFamily="2" charset="0"/>
      <p:regular r:id="rId21"/>
    </p:embeddedFont>
    <p:embeddedFont>
      <p:font typeface="Figtree Bold" pitchFamily="2" charset="0"/>
      <p:regular r:id="rId22"/>
      <p:bold r:id="rId23"/>
    </p:embeddedFont>
    <p:embeddedFont>
      <p:font typeface="Figtree ExtraBold" panose="020F0502020204030204" pitchFamily="34" charset="0"/>
      <p:regular r:id="rId24"/>
      <p:bold r:id="rId25"/>
      <p:italic r:id="rId26"/>
      <p:boldItalic r:id="rId27"/>
    </p:embeddedFont>
    <p:embeddedFont>
      <p:font typeface="Figtree SemiBold" pitchFamily="2" charset="0"/>
      <p:regular r:id="rId28"/>
      <p:bold r:id="rId29"/>
    </p:embeddedFont>
    <p:embeddedFont>
      <p:font typeface="Gabarito ExtraBold" panose="020F0502020204030204" pitchFamily="34" charset="0"/>
      <p:regular r:id="rId30"/>
      <p:bold r:id="rId31"/>
      <p:italic r:id="rId32"/>
      <p:boldItalic r:id="rId33"/>
    </p:embeddedFont>
    <p:embeddedFont>
      <p:font typeface="Red Hat Mono Medium" panose="02010509040201060303" pitchFamily="49" charset="0"/>
      <p:regular r:id="rId34"/>
    </p:embeddedFont>
    <p:embeddedFont>
      <p:font typeface="Urbanist ExtraBold" panose="020B0A04040200000203" pitchFamily="34" charset="77"/>
      <p:regular r:id="rId35"/>
      <p:bold r:id="rId36"/>
    </p:embeddedFont>
    <p:embeddedFont>
      <p:font typeface="Urbanist SemiBold" panose="020B0A04040200000203" pitchFamily="34" charset="77"/>
      <p:regular r:id="rId37"/>
      <p:bold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C89A"/>
    <a:srgbClr val="FFC8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61D93-1431-E64F-A0BD-B14D1E6E9C4C}" v="6" dt="2026-10-08T14:10:10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30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9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9873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585" y="1230114"/>
            <a:ext cx="447028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CLOUD COMPUTING · PLATFORM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514340"/>
            <a:ext cx="4114697" cy="2453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600" kern="100" spc="-92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Cloud computing platforms &amp; simulation tools</a:t>
            </a:r>
            <a:endParaRPr lang="en-US" sz="4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118471"/>
            <a:ext cx="4114697" cy="1238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414699"/>
            <a:ext cx="411469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Eucalyptus · OpenNebula · OpenStack · Aneka · CloudSim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585" y="5226110"/>
            <a:ext cx="411469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Architecture, components, use cases, advantages, limitations, and comparison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3" y="0"/>
            <a:ext cx="7111822" cy="6858000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712312BE-919D-C8FB-0938-D7071702C9C7}"/>
              </a:ext>
            </a:extLst>
          </p:cNvPr>
          <p:cNvSpPr/>
          <p:nvPr/>
        </p:nvSpPr>
        <p:spPr>
          <a:xfrm>
            <a:off x="609585" y="904839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02 · THE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90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Where do these technologies fit?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585" y="1889125"/>
            <a:ext cx="5333867" cy="4359275"/>
          </a:xfrm>
          <a:prstGeom prst="roundRect">
            <a:avLst>
              <a:gd name="adj" fmla="val 489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8978" y="2016125"/>
            <a:ext cx="47750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Cloud infrastructure &amp; management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88978" y="2457450"/>
            <a:ext cx="488938" cy="488950"/>
          </a:xfrm>
          <a:prstGeom prst="roundRect">
            <a:avLst>
              <a:gd name="adj" fmla="val 11688"/>
            </a:avLst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99" y="2606675"/>
            <a:ext cx="190495" cy="190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8978" y="3083878"/>
            <a:ext cx="231134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Eucalyptus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8978" y="3453705"/>
            <a:ext cx="23113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Private or hybrid IaaS; an AWS-compatible model.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52716" y="2457450"/>
            <a:ext cx="488938" cy="488950"/>
          </a:xfrm>
          <a:prstGeom prst="roundRect">
            <a:avLst>
              <a:gd name="adj" fmla="val 11688"/>
            </a:avLst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937" y="2606675"/>
            <a:ext cx="190495" cy="190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2716" y="3083878"/>
            <a:ext cx="231134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OpenNebula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352716" y="3453705"/>
            <a:ext cx="23113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Lightweight management of virtualized data centers.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88978" y="4139505"/>
            <a:ext cx="488938" cy="488950"/>
          </a:xfrm>
          <a:prstGeom prst="roundRect">
            <a:avLst>
              <a:gd name="adj" fmla="val 11688"/>
            </a:avLst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199" y="4288730"/>
            <a:ext cx="190495" cy="1905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8978" y="4765933"/>
            <a:ext cx="231134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OpenStack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88978" y="5135761"/>
            <a:ext cx="231134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Modular, large-scale platform for private and public clouds.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3352716" y="4139505"/>
            <a:ext cx="488938" cy="488950"/>
          </a:xfrm>
          <a:prstGeom prst="roundRect">
            <a:avLst>
              <a:gd name="adj" fmla="val 11688"/>
            </a:avLst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1937" y="4288730"/>
            <a:ext cx="190495" cy="1905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52716" y="4765933"/>
            <a:ext cx="231134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Aneka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3352716" y="5135761"/>
            <a:ext cx="231134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Middleware to develop and execute distributed applications.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248244" y="1889125"/>
            <a:ext cx="5333867" cy="4359275"/>
          </a:xfrm>
          <a:prstGeom prst="roundRect">
            <a:avLst>
              <a:gd name="adj" fmla="val 489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6527637" y="2016125"/>
            <a:ext cx="47750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Cloud research &amp; simulation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6527637" y="2457450"/>
            <a:ext cx="477508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CloudSim models data centers, hosts, VMs, cloudlets, brokers, and policies without physical infrastructure.</a:t>
            </a:r>
            <a:endParaRPr lang="en-US" sz="15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7637" y="3101975"/>
            <a:ext cx="4775081" cy="1238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27637" y="3407728"/>
            <a:ext cx="477508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Basic simulation flow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6527637" y="3777555"/>
            <a:ext cx="1490030" cy="762000"/>
          </a:xfrm>
          <a:prstGeom prst="rect">
            <a:avLst/>
          </a:prstGeom>
          <a:solidFill>
            <a:srgbClr val="3743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539543" y="3789462"/>
            <a:ext cx="1466218" cy="738188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7212725" y="4015680"/>
            <a:ext cx="72933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</a:t>
            </a:r>
            <a:endParaRPr lang="en-US" sz="2250" dirty="0"/>
          </a:p>
        </p:txBody>
      </p:sp>
      <p:sp>
        <p:nvSpPr>
          <p:cNvPr id="31" name="Text 24"/>
          <p:cNvSpPr/>
          <p:nvPr/>
        </p:nvSpPr>
        <p:spPr>
          <a:xfrm>
            <a:off x="6527637" y="4626233"/>
            <a:ext cx="1490030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Model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6527637" y="4996061"/>
            <a:ext cx="14900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Data center, hosts, VMs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8170063" y="3777555"/>
            <a:ext cx="1490129" cy="762000"/>
          </a:xfrm>
          <a:prstGeom prst="rect">
            <a:avLst/>
          </a:prstGeom>
          <a:solidFill>
            <a:srgbClr val="3743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8181969" y="3789462"/>
            <a:ext cx="1466317" cy="738188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8833522" y="4015680"/>
            <a:ext cx="77279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2</a:t>
            </a:r>
            <a:endParaRPr lang="en-US" sz="2250" dirty="0"/>
          </a:p>
        </p:txBody>
      </p:sp>
      <p:sp>
        <p:nvSpPr>
          <p:cNvPr id="36" name="Text 29"/>
          <p:cNvSpPr/>
          <p:nvPr/>
        </p:nvSpPr>
        <p:spPr>
          <a:xfrm>
            <a:off x="8170063" y="4626233"/>
            <a:ext cx="149012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Submit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8170063" y="4996061"/>
            <a:ext cx="149012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Cloudlets through a broker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9812588" y="3777555"/>
            <a:ext cx="1490129" cy="762000"/>
          </a:xfrm>
          <a:prstGeom prst="rect">
            <a:avLst/>
          </a:prstGeom>
          <a:solidFill>
            <a:srgbClr val="3743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9824494" y="3789462"/>
            <a:ext cx="1466317" cy="738188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10478925" y="4015680"/>
            <a:ext cx="76704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</a:t>
            </a:r>
            <a:endParaRPr lang="en-US" sz="2250" dirty="0"/>
          </a:p>
        </p:txBody>
      </p:sp>
      <p:sp>
        <p:nvSpPr>
          <p:cNvPr id="41" name="Text 34"/>
          <p:cNvSpPr/>
          <p:nvPr/>
        </p:nvSpPr>
        <p:spPr>
          <a:xfrm>
            <a:off x="9812588" y="4626233"/>
            <a:ext cx="149012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Evaluate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9812588" y="4996061"/>
            <a:ext cx="149012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Time, cost, utilization, energy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6527637" y="5908238"/>
            <a:ext cx="505447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CloudSim is a simulator, not production cloud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875804"/>
            <a:ext cx="668003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03 · PRIVATE / HYBRID IAAS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28594" y="1160029"/>
            <a:ext cx="6248244" cy="2453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600" kern="100" spc="-92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Eucalyptus turns existing infrastructure into an on-premises cloud.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28594" y="3765113"/>
            <a:ext cx="6248244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Eucalyptus is an open-source IaaS cloud software framework, originally designed for private and hybrid clouds using an AWS-compatible model.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4" y="4895552"/>
            <a:ext cx="6248244" cy="1238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594" y="5190827"/>
            <a:ext cx="624824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It provides virtual machine-based compute, storage, and networking services, making EC2/S3-style environments useful for migration and experimentation.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solidFill>
            <a:srgbClr val="FFC8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754804-88DA-A4F1-15D0-7AE7EF579EBA}"/>
              </a:ext>
            </a:extLst>
          </p:cNvPr>
          <p:cNvSpPr txBox="1"/>
          <p:nvPr/>
        </p:nvSpPr>
        <p:spPr>
          <a:xfrm>
            <a:off x="134620" y="6038254"/>
            <a:ext cx="61620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>
                <a:solidFill>
                  <a:srgbClr val="1E2A44"/>
                </a:solidFill>
                <a:latin typeface="Figtree" pitchFamily="34" charset="0"/>
              </a:rPr>
              <a:t>"Eucalyptus" derived from "Elastic Utility Computing Architecture for Linking Your Programs To Useful Systems."</a:t>
            </a:r>
            <a:endParaRPr lang="en-US" sz="1500" dirty="0">
              <a:solidFill>
                <a:srgbClr val="1E2A44"/>
              </a:solidFill>
              <a:latin typeface="Figtree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04 · EUCALYPTUS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90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One request moves through layered controllers.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097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controller chain separates entry, placement, execution, and storage.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1889125"/>
            <a:ext cx="3454314" cy="2247900"/>
          </a:xfrm>
          <a:prstGeom prst="roundRect">
            <a:avLst>
              <a:gd name="adj" fmla="val 94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8179" y="2117725"/>
            <a:ext cx="81228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8179" y="2384425"/>
            <a:ext cx="2997125" cy="1905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8179" y="2517775"/>
            <a:ext cx="2997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Cloud Controller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179" y="2959100"/>
            <a:ext cx="2997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Central entry point and overall cloud management.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8179" y="3603625"/>
            <a:ext cx="1234449" cy="304800"/>
          </a:xfrm>
          <a:prstGeom prst="roundRect">
            <a:avLst>
              <a:gd name="adj" fmla="val 44999"/>
            </a:avLst>
          </a:prstGeom>
          <a:noFill/>
          <a:ln w="63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2476" y="3665537"/>
            <a:ext cx="16154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USER /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8691" y="1889125"/>
            <a:ext cx="3454314" cy="2247900"/>
          </a:xfrm>
          <a:prstGeom prst="roundRect">
            <a:avLst>
              <a:gd name="adj" fmla="val 9491"/>
            </a:avLst>
          </a:prstGeom>
          <a:solidFill>
            <a:srgbClr val="FFC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7285" y="2117725"/>
            <a:ext cx="8412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97285" y="2384425"/>
            <a:ext cx="2997125" cy="1905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97285" y="2517775"/>
            <a:ext cx="2997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Cluster Controller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97285" y="2959100"/>
            <a:ext cx="2997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Manages a cluster and coordinates VM placement.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97285" y="3603625"/>
            <a:ext cx="1133844" cy="304800"/>
          </a:xfrm>
          <a:prstGeom prst="roundRect">
            <a:avLst>
              <a:gd name="adj" fmla="val 44999"/>
            </a:avLst>
          </a:prstGeom>
          <a:noFill/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11582" y="3665537"/>
            <a:ext cx="15148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PLACEMENT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7797" y="1889125"/>
            <a:ext cx="3454314" cy="2247900"/>
          </a:xfrm>
          <a:prstGeom prst="roundRect">
            <a:avLst>
              <a:gd name="adj" fmla="val 94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56391" y="2117725"/>
            <a:ext cx="8374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356391" y="2384425"/>
            <a:ext cx="2997125" cy="1905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56391" y="2517775"/>
            <a:ext cx="2997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Node Controller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56391" y="2959100"/>
            <a:ext cx="29971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Controls VM instances on physical compute nodes.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56391" y="3603625"/>
            <a:ext cx="1133844" cy="304800"/>
          </a:xfrm>
          <a:prstGeom prst="roundRect">
            <a:avLst>
              <a:gd name="adj" fmla="val 44999"/>
            </a:avLst>
          </a:prstGeom>
          <a:noFill/>
          <a:ln w="63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70688" y="3665537"/>
            <a:ext cx="15148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585" y="4441825"/>
            <a:ext cx="5333867" cy="1669355"/>
          </a:xfrm>
          <a:prstGeom prst="roundRect">
            <a:avLst>
              <a:gd name="adj" fmla="val 127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38179" y="4619625"/>
            <a:ext cx="85216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8179" y="4886325"/>
            <a:ext cx="4876678" cy="1905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8179" y="5030153"/>
            <a:ext cx="487667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Storage Controller (Walrus)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179" y="5399980"/>
            <a:ext cx="51052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Provides block storage services.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</a:rPr>
              <a:t>Walrus store and organize data - blocks/objects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48244" y="4441825"/>
            <a:ext cx="5333867" cy="1669355"/>
          </a:xfrm>
          <a:prstGeom prst="roundRect">
            <a:avLst>
              <a:gd name="adj" fmla="val 127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76838" y="4619625"/>
            <a:ext cx="84264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76838" y="4886325"/>
            <a:ext cx="4876678" cy="1905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76838" y="5030153"/>
            <a:ext cx="487667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Management Platform (Euca2ool)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6838" y="5399980"/>
            <a:ext cx="487667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</a:rPr>
              <a:t>Manage modules and components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09585" y="628358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Typical flow: User → Cloud Controller → Cluster Controller → Node Controller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9E0635-241F-867C-7395-0FD80DEBE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16682"/>
            <a:ext cx="7772400" cy="52246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9BC541DB-A9B0-1BB7-F707-EFDC9FACB525}"/>
              </a:ext>
            </a:extLst>
          </p:cNvPr>
          <p:cNvSpPr/>
          <p:nvPr/>
        </p:nvSpPr>
        <p:spPr>
          <a:xfrm>
            <a:off x="609737" y="30988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Eucalyptus architecture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19723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94" y="993874"/>
            <a:ext cx="6654634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05 · PRIVATE CLOUD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53994" y="1278100"/>
            <a:ext cx="6222844" cy="184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600" kern="100" spc="-92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OpenNebula keeps virtualized data centers manageable.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53994" y="3269813"/>
            <a:ext cx="6222844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OpenNebula is an open-source cloud and virtualization management platform, primarily used to build and manage private clouds.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4" y="4400252"/>
            <a:ext cx="6222844" cy="1238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3994" y="4695527"/>
            <a:ext cx="622284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It centralizes virtual machines, hosts, virtual networks, and datastores while integrating heterogeneous hypervisors, storage systems, and networking.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53994" y="5668030"/>
            <a:ext cx="665463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Its emphasis is simplicity, flexibility, and operational control.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solidFill>
            <a:srgbClr val="3FC8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06 · OPENNEBULA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90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A front-end coordinates the layers beneath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097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Users reach one management plane; execution remains distributed across hosts.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1889125"/>
            <a:ext cx="3200320" cy="435927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3201988"/>
            <a:ext cx="380990" cy="38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694113"/>
            <a:ext cx="274313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Front-end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38179" y="4135437"/>
            <a:ext cx="274313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Central management services plus CLI, GUI, API, and cloud interfaces.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598" y="1889125"/>
            <a:ext cx="3035224" cy="2103438"/>
          </a:xfrm>
          <a:prstGeom prst="roundRect">
            <a:avLst>
              <a:gd name="adj" fmla="val 10143"/>
            </a:avLst>
          </a:prstGeom>
          <a:solidFill>
            <a:srgbClr val="FFC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17793" y="2066925"/>
            <a:ext cx="81228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17793" y="2333625"/>
            <a:ext cx="2628834" cy="1905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17793" y="2477453"/>
            <a:ext cx="262883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Virtualization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17793" y="2847280"/>
            <a:ext cx="26288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Interfaces with hypervisors such as KVM.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302218" y="1889125"/>
            <a:ext cx="4279892" cy="2103438"/>
          </a:xfrm>
          <a:prstGeom prst="roundRect">
            <a:avLst>
              <a:gd name="adj" fmla="val 101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505413" y="2066925"/>
            <a:ext cx="8412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505413" y="2333625"/>
            <a:ext cx="3873403" cy="1905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05413" y="2477453"/>
            <a:ext cx="387350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Storage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05413" y="2847280"/>
            <a:ext cx="38735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Datastores for VM images and persistent data.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114598" y="4144963"/>
            <a:ext cx="3035224" cy="2103438"/>
          </a:xfrm>
          <a:prstGeom prst="roundRect">
            <a:avLst>
              <a:gd name="adj" fmla="val 10143"/>
            </a:avLst>
          </a:prstGeom>
          <a:solidFill>
            <a:srgbClr val="3FC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317793" y="4322763"/>
            <a:ext cx="8374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317793" y="4589463"/>
            <a:ext cx="2628834" cy="1905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317793" y="4733290"/>
            <a:ext cx="262883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Networking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317793" y="5103118"/>
            <a:ext cx="26288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Virtual networks, VLANs, bridges, and related services.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302218" y="4144963"/>
            <a:ext cx="4279892" cy="2103438"/>
          </a:xfrm>
          <a:prstGeom prst="roundRect">
            <a:avLst>
              <a:gd name="adj" fmla="val 101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505413" y="4322763"/>
            <a:ext cx="85216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505413" y="4589463"/>
            <a:ext cx="3873403" cy="1905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505413" y="4733290"/>
            <a:ext cx="387350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Hosts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505413" y="5103118"/>
            <a:ext cx="38735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Physical virtualization servers that execute VM workloads.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5FA1EF-D29C-B5CE-81EC-2ABE1575C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9090"/>
            <a:ext cx="7772400" cy="523982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8E7CC3C9-9C89-CCDB-669B-22534ABBB7EA}"/>
              </a:ext>
            </a:extLst>
          </p:cNvPr>
          <p:cNvSpPr/>
          <p:nvPr/>
        </p:nvSpPr>
        <p:spPr>
          <a:xfrm>
            <a:off x="609737" y="30988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000" kern="100" spc="-60" dirty="0" err="1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OpenNebula</a:t>
            </a: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 architecture and its components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296373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585" y="1315839"/>
            <a:ext cx="6299042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07 · MODULAR CLOUD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600065"/>
            <a:ext cx="5918052" cy="184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600" kern="100" spc="-92" dirty="0">
                <a:solidFill>
                  <a:srgbClr val="FFFFFF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OpenStack assembles a cloud from cooperating services.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09585" y="3591778"/>
            <a:ext cx="5918052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 open-source platform for private and public IaaS clouds, designed for large-scale, multi-tenant environments.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722217"/>
            <a:ext cx="5918052" cy="1238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017492"/>
            <a:ext cx="59180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Its modular architecture lets organizations deploy only the services they need.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08 · OPENSTACK SERVICE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90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Each service owns one part of the cloud.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097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Together, the services cover compute, network, identity, images, storage, dashboard, and resource placement.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1889125"/>
            <a:ext cx="2590735" cy="2027238"/>
          </a:xfrm>
          <a:prstGeom prst="roundRect">
            <a:avLst>
              <a:gd name="adj" fmla="val 10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7380" y="2066925"/>
            <a:ext cx="584185" cy="584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02" y="2216150"/>
            <a:ext cx="285743" cy="285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7380" y="2772728"/>
            <a:ext cx="223514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Nova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7380" y="3142555"/>
            <a:ext cx="22351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Compute and VM management.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505112" y="1889125"/>
            <a:ext cx="2438339" cy="2027238"/>
          </a:xfrm>
          <a:prstGeom prst="roundRect">
            <a:avLst>
              <a:gd name="adj" fmla="val 10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82908" y="2066925"/>
            <a:ext cx="584185" cy="584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129" y="2216150"/>
            <a:ext cx="285743" cy="2857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2908" y="2772728"/>
            <a:ext cx="208274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Neutron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82908" y="3142555"/>
            <a:ext cx="208274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Networking and virtual network services.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248244" y="1889125"/>
            <a:ext cx="2438339" cy="2027238"/>
          </a:xfrm>
          <a:prstGeom prst="roundRect">
            <a:avLst>
              <a:gd name="adj" fmla="val 10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26039" y="2066925"/>
            <a:ext cx="584185" cy="584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261" y="2216150"/>
            <a:ext cx="285743" cy="285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26039" y="2772728"/>
            <a:ext cx="208274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Keystone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26039" y="3142555"/>
            <a:ext cx="208274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Identity, authentication, and authorization.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8991375" y="1889125"/>
            <a:ext cx="2590735" cy="2027238"/>
          </a:xfrm>
          <a:prstGeom prst="roundRect">
            <a:avLst>
              <a:gd name="adj" fmla="val 10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169171" y="2066925"/>
            <a:ext cx="584185" cy="584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8392" y="2216150"/>
            <a:ext cx="285743" cy="2857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69171" y="2772728"/>
            <a:ext cx="223514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Glance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169171" y="3142555"/>
            <a:ext cx="24129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VM image management.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609585" y="4221163"/>
            <a:ext cx="2590735" cy="2027238"/>
          </a:xfrm>
          <a:prstGeom prst="roundRect">
            <a:avLst>
              <a:gd name="adj" fmla="val 10524"/>
            </a:avLst>
          </a:prstGeom>
          <a:solidFill>
            <a:srgbClr val="FFC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87380" y="4398963"/>
            <a:ext cx="584185" cy="584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602" y="4548188"/>
            <a:ext cx="285743" cy="2857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87380" y="5104765"/>
            <a:ext cx="223514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Cinder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787380" y="5474593"/>
            <a:ext cx="24129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Block storage.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3505112" y="4221163"/>
            <a:ext cx="2438339" cy="2027238"/>
          </a:xfrm>
          <a:prstGeom prst="roundRect">
            <a:avLst>
              <a:gd name="adj" fmla="val 10524"/>
            </a:avLst>
          </a:prstGeom>
          <a:solidFill>
            <a:srgbClr val="FFC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3682908" y="4398963"/>
            <a:ext cx="584185" cy="584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2129" y="4548188"/>
            <a:ext cx="285743" cy="2857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82908" y="5104765"/>
            <a:ext cx="208274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Swift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3682908" y="5474593"/>
            <a:ext cx="22605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Object storage.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6248244" y="4221163"/>
            <a:ext cx="2438339" cy="2027238"/>
          </a:xfrm>
          <a:prstGeom prst="roundRect">
            <a:avLst>
              <a:gd name="adj" fmla="val 10524"/>
            </a:avLst>
          </a:prstGeom>
          <a:solidFill>
            <a:srgbClr val="FFC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6426039" y="4398963"/>
            <a:ext cx="584185" cy="584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5261" y="4548188"/>
            <a:ext cx="285743" cy="28575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26039" y="5104765"/>
            <a:ext cx="208274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Horizon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426039" y="5474593"/>
            <a:ext cx="22605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Web-based dashboard.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8991375" y="4221163"/>
            <a:ext cx="2590735" cy="2027238"/>
          </a:xfrm>
          <a:prstGeom prst="roundRect">
            <a:avLst>
              <a:gd name="adj" fmla="val 10524"/>
            </a:avLst>
          </a:prstGeom>
          <a:solidFill>
            <a:srgbClr val="FFC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9169171" y="4398963"/>
            <a:ext cx="584185" cy="5842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8392" y="4548188"/>
            <a:ext cx="285743" cy="28575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169171" y="5104765"/>
            <a:ext cx="223514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Placement</a:t>
            </a:r>
            <a:endParaRPr lang="en-US" sz="1600" dirty="0"/>
          </a:p>
        </p:txBody>
      </p:sp>
      <p:sp>
        <p:nvSpPr>
          <p:cNvPr id="44" name="Text 34"/>
          <p:cNvSpPr/>
          <p:nvPr/>
        </p:nvSpPr>
        <p:spPr>
          <a:xfrm>
            <a:off x="9169171" y="5474593"/>
            <a:ext cx="22351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Resource tracking and allocation.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CB811A-3F4B-1007-F9D9-511772CA7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60934"/>
            <a:ext cx="7772400" cy="5876070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E0925479-8139-B304-CA5A-152E9F183275}"/>
              </a:ext>
            </a:extLst>
          </p:cNvPr>
          <p:cNvSpPr/>
          <p:nvPr/>
        </p:nvSpPr>
        <p:spPr>
          <a:xfrm>
            <a:off x="609737" y="30988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OpenStack Conceptual Architecture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188894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627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09 · APPLICATION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5334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Aneka puts programming models above infrastructure detail.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09537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middleware and runtime environment for developing and executing distributed cloud applications.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1533525"/>
            <a:ext cx="4800480" cy="50704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3578" y="2557264"/>
            <a:ext cx="42924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Coordinator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3578" y="2998589"/>
            <a:ext cx="4292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Manages application execution and resource scheduling.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78" y="3643114"/>
            <a:ext cx="4292493" cy="1238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3578" y="3948867"/>
            <a:ext cx="429249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Execution nodes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3578" y="4318695"/>
            <a:ext cx="4292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Workers run application tasks on physical machines, virtual machines, or cloud resources.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3578" y="4964172"/>
            <a:ext cx="4292493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Fabric services provision resources. Foundation services provide membership, storage, security, accounting, and monitoring.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14758" y="1762125"/>
            <a:ext cx="58673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Three ways to express distributed work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714758" y="2489200"/>
            <a:ext cx="2857429" cy="1724025"/>
          </a:xfrm>
          <a:prstGeom prst="roundRect">
            <a:avLst>
              <a:gd name="adj" fmla="val 12375"/>
            </a:avLst>
          </a:prstGeom>
          <a:solidFill>
            <a:srgbClr val="FFC8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17953" y="2988628"/>
            <a:ext cx="245103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Task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17953" y="3358455"/>
            <a:ext cx="24510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Independent tasks execute in parallel.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724583" y="2489200"/>
            <a:ext cx="2857528" cy="1724025"/>
          </a:xfrm>
          <a:prstGeom prst="roundRect">
            <a:avLst>
              <a:gd name="adj" fmla="val 12375"/>
            </a:avLst>
          </a:prstGeom>
          <a:solidFill>
            <a:srgbClr val="3FC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927777" y="2988628"/>
            <a:ext cx="245113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Thread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927777" y="3358455"/>
            <a:ext cx="245113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Threads execute across distributed resources.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714758" y="4651375"/>
            <a:ext cx="5867352" cy="1724025"/>
          </a:xfrm>
          <a:prstGeom prst="roundRect">
            <a:avLst>
              <a:gd name="adj" fmla="val 12375"/>
            </a:avLst>
          </a:prstGeom>
          <a:solidFill>
            <a:srgbClr val="C6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17953" y="5150803"/>
            <a:ext cx="546096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MapReduce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917953" y="5520630"/>
            <a:ext cx="56641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Data-intensive parallel processing.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857729" y="2203450"/>
            <a:ext cx="571486" cy="5715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867554" y="2203450"/>
            <a:ext cx="571486" cy="5715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362642" y="4365625"/>
            <a:ext cx="571486" cy="5715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924602" cy="6858000"/>
          </a:xfrm>
          <a:prstGeom prst="rect">
            <a:avLst/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8786" y="228600"/>
            <a:ext cx="3790855" cy="446980"/>
          </a:xfrm>
          <a:prstGeom prst="roundRect">
            <a:avLst>
              <a:gd name="adj" fmla="val 49999"/>
            </a:avLst>
          </a:prstGeom>
          <a:solidFill>
            <a:srgbClr val="40C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8331" y="300653"/>
            <a:ext cx="3981350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100" spc="22" dirty="0"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Cloud platform landscape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58786" y="815280"/>
            <a:ext cx="693402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1B1B1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CloudSim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58786" y="1588393"/>
            <a:ext cx="2288225" cy="107851"/>
          </a:xfrm>
          <a:prstGeom prst="roundRect">
            <a:avLst>
              <a:gd name="adj" fmla="val 49999"/>
            </a:avLst>
          </a:prstGeom>
          <a:solidFill>
            <a:srgbClr val="FFC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8786" y="1955105"/>
            <a:ext cx="6934027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350"/>
              </a:spcAft>
              <a:buNone/>
            </a:pPr>
            <a:r>
              <a:rPr lang="en-US" sz="20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CloudSim is a simulation toolkit for modeling cloud computing environments.</a:t>
            </a:r>
            <a:endParaRPr lang="en-US" sz="2000" dirty="0"/>
          </a:p>
          <a:p>
            <a:pPr marL="0" indent="0" algn="l">
              <a:lnSpc>
                <a:spcPct val="117000"/>
              </a:lnSpc>
              <a:spcAft>
                <a:spcPts val="1350"/>
              </a:spcAft>
              <a:buNone/>
            </a:pPr>
            <a:r>
              <a:rPr lang="en-US" sz="20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It allows researchers to test scheduling, provisioning, VM allocation, energy, and resource-management strategies.</a:t>
            </a:r>
            <a:endParaRPr lang="en-US" sz="2000" dirty="0"/>
          </a:p>
          <a:p>
            <a:pPr marL="0" indent="0" algn="l">
              <a:lnSpc>
                <a:spcPct val="117000"/>
              </a:lnSpc>
              <a:spcAft>
                <a:spcPts val="1350"/>
              </a:spcAft>
              <a:buNone/>
            </a:pPr>
            <a:r>
              <a:rPr lang="en-US" sz="20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Simulation avoids the cost and complexity of building a physical cloud for every experiment.</a:t>
            </a:r>
            <a:endParaRPr lang="en-US" sz="2000" dirty="0"/>
          </a:p>
          <a:p>
            <a:pPr marL="0" indent="0" algn="l">
              <a:lnSpc>
                <a:spcPct val="117000"/>
              </a:lnSpc>
              <a:spcAft>
                <a:spcPts val="1350"/>
              </a:spcAft>
              <a:buNone/>
            </a:pPr>
            <a:r>
              <a:rPr lang="en-US" sz="20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Typical entities include data centers, hosts, virtual machines, cloudlets, brokers, and policies.</a:t>
            </a:r>
            <a:endParaRPr lang="en-US" sz="20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CloudSim is a simulator — it is not itself a production cloud infrastructure.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924602" y="0"/>
            <a:ext cx="4267093" cy="6858000"/>
          </a:xfrm>
          <a:prstGeom prst="rect">
            <a:avLst/>
          </a:prstGeom>
          <a:solidFill>
            <a:srgbClr val="1F3FC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02" y="0"/>
            <a:ext cx="4267093" cy="6858000"/>
          </a:xfrm>
          <a:prstGeom prst="rect">
            <a:avLst/>
          </a:prstGeom>
          <a:solidFill>
            <a:srgbClr val="E9F4FF"/>
          </a:solidFill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381000"/>
            <a:ext cx="2900984" cy="446980"/>
          </a:xfrm>
          <a:prstGeom prst="roundRect">
            <a:avLst>
              <a:gd name="adj" fmla="val 49999"/>
            </a:avLst>
          </a:prstGeom>
          <a:solidFill>
            <a:srgbClr val="FFC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331" y="453053"/>
            <a:ext cx="3091480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100" spc="22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Simulation method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8786" y="1120080"/>
            <a:ext cx="1107412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1B1B1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CloudSim: Basic </a:t>
            </a:r>
            <a:r>
              <a:rPr lang="en-US" sz="4000" kern="100" spc="-40" dirty="0">
                <a:solidFill>
                  <a:srgbClr val="000000"/>
                </a:solidFill>
                <a:highlight>
                  <a:srgbClr val="FFC233"/>
                </a:highlight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Simulation Flow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58786" y="1960761"/>
            <a:ext cx="507987" cy="508000"/>
          </a:xfrm>
          <a:prstGeom prst="ellipse">
            <a:avLst/>
          </a:prstGeom>
          <a:solidFill>
            <a:srgbClr val="1F3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169" y="2075061"/>
            <a:ext cx="91080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gtree ExtraBold" pitchFamily="34" charset="0"/>
                <a:ea typeface="Figtree ExtraBold" pitchFamily="34" charset="-122"/>
                <a:cs typeface="Figtree ExtraBold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44569" y="2038866"/>
            <a:ext cx="4851279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Create a Data Center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299042" y="1812230"/>
            <a:ext cx="507987" cy="508000"/>
          </a:xfrm>
          <a:prstGeom prst="ellipse">
            <a:avLst/>
          </a:prstGeom>
          <a:solidFill>
            <a:srgbClr val="1F3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79804" y="1926530"/>
            <a:ext cx="95604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gtree ExtraBold" pitchFamily="34" charset="0"/>
                <a:ea typeface="Figtree ExtraBold" pitchFamily="34" charset="-122"/>
                <a:cs typeface="Figtree ExtraBold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84825" y="1890335"/>
            <a:ext cx="4648084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Define Hosts and their CPU, RAM, bandwidth, and storage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58786" y="3190081"/>
            <a:ext cx="507987" cy="508000"/>
          </a:xfrm>
          <a:prstGeom prst="ellipse">
            <a:avLst/>
          </a:prstGeom>
          <a:solidFill>
            <a:srgbClr val="1F3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318" y="3304381"/>
            <a:ext cx="94850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gtree ExtraBold" pitchFamily="34" charset="0"/>
                <a:ea typeface="Figtree ExtraBold" pitchFamily="34" charset="-122"/>
                <a:cs typeface="Figtree ExtraBold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44569" y="3268186"/>
            <a:ext cx="4851279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Create Virtual Machines (VMs)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299042" y="3041551"/>
            <a:ext cx="507987" cy="508000"/>
          </a:xfrm>
          <a:prstGeom prst="ellipse">
            <a:avLst/>
          </a:prstGeom>
          <a:solidFill>
            <a:srgbClr val="1F3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72661" y="3155851"/>
            <a:ext cx="97033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gtree ExtraBold" pitchFamily="34" charset="0"/>
                <a:ea typeface="Figtree ExtraBold" pitchFamily="34" charset="-122"/>
                <a:cs typeface="Figtree ExtraBold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84825" y="3119656"/>
            <a:ext cx="4648084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Create Cloudlets representing application tasks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58786" y="4270871"/>
            <a:ext cx="507987" cy="508000"/>
          </a:xfrm>
          <a:prstGeom prst="ellipse">
            <a:avLst/>
          </a:prstGeom>
          <a:solidFill>
            <a:srgbClr val="1F3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44" y="4385171"/>
            <a:ext cx="95495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gtree ExtraBold" pitchFamily="34" charset="0"/>
                <a:ea typeface="Figtree ExtraBold" pitchFamily="34" charset="-122"/>
                <a:cs typeface="Figtree ExtraBold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44569" y="4348976"/>
            <a:ext cx="4648084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 a Broker to submit VMs and Cloudlets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299042" y="4270871"/>
            <a:ext cx="507987" cy="508000"/>
          </a:xfrm>
          <a:prstGeom prst="ellipse">
            <a:avLst/>
          </a:prstGeom>
          <a:solidFill>
            <a:srgbClr val="1F3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80003" y="4385171"/>
            <a:ext cx="95555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gtree ExtraBold" pitchFamily="34" charset="0"/>
                <a:ea typeface="Figtree ExtraBold" pitchFamily="34" charset="-122"/>
                <a:cs typeface="Figtree ExtraBold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84825" y="4348976"/>
            <a:ext cx="4648084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Apply VM allocation / task scheduling policies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58786" y="5500191"/>
            <a:ext cx="507987" cy="508000"/>
          </a:xfrm>
          <a:prstGeom prst="ellipse">
            <a:avLst/>
          </a:prstGeom>
          <a:solidFill>
            <a:srgbClr val="1F3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2822" y="5614491"/>
            <a:ext cx="949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gtree ExtraBold" pitchFamily="34" charset="0"/>
                <a:ea typeface="Figtree ExtraBold" pitchFamily="34" charset="-122"/>
                <a:cs typeface="Figtree ExtraBold" pitchFamily="34" charset="-120"/>
              </a:rPr>
              <a:t>07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44569" y="5578296"/>
            <a:ext cx="10388340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Run simulation and analyze execution time, cost, utilization, or energy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079973" y="1812230"/>
            <a:ext cx="31749" cy="102612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8786" y="2822476"/>
            <a:ext cx="5537061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79973" y="2838351"/>
            <a:ext cx="31749" cy="122932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95848" y="2822476"/>
            <a:ext cx="5537061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8786" y="4051796"/>
            <a:ext cx="5537061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79973" y="4067671"/>
            <a:ext cx="31749" cy="122932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95848" y="4051796"/>
            <a:ext cx="5537061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58786" y="5281116"/>
            <a:ext cx="11074123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838088" y="6428780"/>
            <a:ext cx="35360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1789" y="891480"/>
            <a:ext cx="1132811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1B1B1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Comparison at a </a:t>
            </a:r>
            <a:r>
              <a:rPr lang="en-US" sz="4000" kern="100" spc="-40" dirty="0">
                <a:solidFill>
                  <a:srgbClr val="000000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Glance</a:t>
            </a:r>
            <a:endParaRPr lang="en-US" sz="4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31789" y="1583630"/>
          <a:ext cx="11328117" cy="3587165"/>
        </p:xfrm>
        <a:graphic>
          <a:graphicData uri="http://schemas.openxmlformats.org/drawingml/2006/table">
            <a:tbl>
              <a:tblPr/>
              <a:tblGrid>
                <a:gridCol w="1585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9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5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5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5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Technology</a:t>
                      </a:r>
                      <a:endParaRPr lang="en-US" sz="13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Category</a:t>
                      </a:r>
                      <a:endParaRPr lang="en-US" sz="13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Primary Focus</a:t>
                      </a:r>
                      <a:endParaRPr lang="en-US" sz="13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Typical Use</a:t>
                      </a:r>
                      <a:endParaRPr lang="en-US" sz="13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Key Strength</a:t>
                      </a:r>
                      <a:endParaRPr lang="en-US" sz="13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Main Limitation</a:t>
                      </a:r>
                      <a:endParaRPr lang="en-US" sz="13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0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Eucalyptus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IaaS framework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Private/hybrid cloud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AWS-like on-prem cloud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AWS compatibility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Smaller ecosystem / legacy adoption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0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OpenNebula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Cloud manager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Virtualized data centers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Private cloud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Simplicity &amp; flexibility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Smaller ecosystem than OpenStack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0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OpenStack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Cloud platform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Large-scale IaaS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Private/public cloud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Modular &amp; scalable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Complex deployment/operations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Aneka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Cloud middleware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Application execution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Distributed applications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Multiple programming models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1F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More specialized ecosystem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CloudSim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Simulator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Cloud research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Algorithm/policy evaluation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Low-cost experimentation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Simulation ≠ real deployment</a:t>
                      </a:r>
                      <a:endParaRPr lang="en-US" sz="12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247644" marR="247644" marT="76198" marB="76198" anchor="ctr">
                    <a:lnL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C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381000"/>
            <a:ext cx="2346068" cy="446980"/>
          </a:xfrm>
          <a:prstGeom prst="roundRect">
            <a:avLst>
              <a:gd name="adj" fmla="val 49999"/>
            </a:avLst>
          </a:prstGeom>
          <a:solidFill>
            <a:srgbClr val="FFC2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331" y="453053"/>
            <a:ext cx="2536563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100" spc="22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Decision guide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8786" y="1292046"/>
            <a:ext cx="1107412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1B1B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One Should you Choose</a:t>
            </a:r>
            <a:r>
              <a:rPr lang="en-US" sz="4000" kern="100" spc="-40" dirty="0">
                <a:solidFill>
                  <a:srgbClr val="000000"/>
                </a:solidFill>
                <a:highlight>
                  <a:srgbClr val="FFC233"/>
                </a:highlight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? </a:t>
            </a:r>
            <a:endParaRPr lang="en-US" sz="4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937941"/>
            <a:ext cx="825479" cy="825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00686" y="2165965"/>
            <a:ext cx="9732223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Need an AWS-compatible private/hybrid IaaS environment → Eucalyptus</a:t>
            </a:r>
            <a:endParaRPr lang="en-US" sz="2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6" y="2843609"/>
            <a:ext cx="825479" cy="825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00686" y="3071535"/>
            <a:ext cx="9732223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Need a relatively lightweight private-cloud manager → OpenNebula</a:t>
            </a:r>
            <a:endParaRPr lang="en-US" sz="2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86" y="3749278"/>
            <a:ext cx="825479" cy="825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00686" y="3977203"/>
            <a:ext cx="9732223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Need a feature-rich, highly modular cloud platform → OpenStack</a:t>
            </a:r>
            <a:endParaRPr lang="en-US" sz="2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786" y="4654947"/>
            <a:ext cx="825479" cy="825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00686" y="4696242"/>
            <a:ext cx="9732223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Need to develop/test distributed cloud applications using programming models → Aneka</a:t>
            </a:r>
            <a:endParaRPr lang="en-US" sz="2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786" y="5560616"/>
            <a:ext cx="825479" cy="8255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00686" y="5601910"/>
            <a:ext cx="9732223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Need to evaluate scheduling, VM allocation, cost, or energy algorithms → CloudSim</a:t>
            </a:r>
            <a:endParaRPr lang="en-US" sz="2100" dirty="0"/>
          </a:p>
        </p:txBody>
      </p:sp>
      <p:sp>
        <p:nvSpPr>
          <p:cNvPr id="15" name="Shape 8"/>
          <p:cNvSpPr/>
          <p:nvPr/>
        </p:nvSpPr>
        <p:spPr>
          <a:xfrm>
            <a:off x="558786" y="2787650"/>
            <a:ext cx="11074123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9"/>
          <p:cNvSpPr/>
          <p:nvPr/>
        </p:nvSpPr>
        <p:spPr>
          <a:xfrm>
            <a:off x="558786" y="3693319"/>
            <a:ext cx="11074123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558786" y="4598988"/>
            <a:ext cx="11074123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558786" y="5504656"/>
            <a:ext cx="11074123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381000"/>
            <a:ext cx="2879157" cy="446980"/>
          </a:xfrm>
          <a:prstGeom prst="roundRect">
            <a:avLst>
              <a:gd name="adj" fmla="val 49999"/>
            </a:avLst>
          </a:prstGeom>
          <a:solidFill>
            <a:srgbClr val="C43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331" y="453053"/>
            <a:ext cx="306965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100" spc="22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Classroom activity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8786" y="1047055"/>
            <a:ext cx="779760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1B1B1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Classroom Activity / </a:t>
            </a:r>
            <a:r>
              <a:rPr lang="en-US" sz="4000" kern="100" spc="-40" dirty="0">
                <a:solidFill>
                  <a:srgbClr val="000000"/>
                </a:solidFill>
                <a:highlight>
                  <a:srgbClr val="FFC233"/>
                </a:highlight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58786" y="1739205"/>
            <a:ext cx="779760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Scenario:</a:t>
            </a:r>
            <a:r>
              <a:rPr lang="en-US" sz="20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A college wants to build a private cloud using 10 physical servers.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58786" y="2577723"/>
            <a:ext cx="779760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Q1.</a:t>
            </a:r>
            <a:r>
              <a:rPr lang="en-US" sz="16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Which platform would you consider for production cloud management? Why?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786" y="3268583"/>
            <a:ext cx="779760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Q2.</a:t>
            </a:r>
            <a:r>
              <a:rPr lang="en-US" sz="16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Which platform would be useful if simplicity is the priority?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86" y="3959443"/>
            <a:ext cx="779760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Q3.</a:t>
            </a:r>
            <a:r>
              <a:rPr lang="en-US" sz="16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Which tool would you use to test a new VM scheduling algorithm before deployment?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8786" y="4934764"/>
            <a:ext cx="779760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Q4.</a:t>
            </a:r>
            <a:r>
              <a:rPr lang="en-US" sz="16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Which technology focuses more on application programming models than infrastructure management?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8786" y="5910084"/>
            <a:ext cx="779760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Q5.</a:t>
            </a:r>
            <a:r>
              <a:rPr lang="en-US" sz="16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Compare OpenNebula and OpenStack in terms of complexity and scalability.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37381" y="0"/>
            <a:ext cx="3454314" cy="6858000"/>
          </a:xfrm>
          <a:prstGeom prst="rect">
            <a:avLst/>
          </a:prstGeom>
          <a:solidFill>
            <a:srgbClr val="FFC2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381" y="0"/>
            <a:ext cx="3454314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58786" y="3049191"/>
            <a:ext cx="7797605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58786" y="3740051"/>
            <a:ext cx="7797605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58786" y="4715371"/>
            <a:ext cx="7797605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8786" y="5690691"/>
            <a:ext cx="7797605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54192" y="6428780"/>
            <a:ext cx="71187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304800"/>
            <a:ext cx="1883720" cy="446980"/>
          </a:xfrm>
          <a:prstGeom prst="roundRect">
            <a:avLst>
              <a:gd name="adj" fmla="val 49999"/>
            </a:avLst>
          </a:prstGeom>
          <a:solidFill>
            <a:srgbClr val="1F3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8331" y="376853"/>
            <a:ext cx="207421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kern="100" spc="22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Final frame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8786" y="970855"/>
            <a:ext cx="1107412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1B1B1F"/>
                </a:solidFill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Key </a:t>
            </a:r>
            <a:r>
              <a:rPr lang="en-US" sz="4000" kern="100" spc="-40" dirty="0">
                <a:solidFill>
                  <a:srgbClr val="000000"/>
                </a:solidFill>
                <a:highlight>
                  <a:srgbClr val="FFC233"/>
                </a:highlight>
                <a:latin typeface="Gabarito ExtraBold" pitchFamily="34" charset="0"/>
                <a:ea typeface="Gabarito ExtraBold" pitchFamily="34" charset="-122"/>
                <a:cs typeface="Gabarito ExtraBold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58786" y="1874460"/>
            <a:ext cx="11074123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Eucalyptus</a:t>
            </a: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AWS-compatible approach to private/hybrid IaaS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58786" y="2654221"/>
            <a:ext cx="11074123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OpenNebula</a:t>
            </a: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streamlined management of virtualized/cloud infrastructure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58786" y="3433981"/>
            <a:ext cx="11074123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OpenStack</a:t>
            </a: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modular platform for building large-scale clouds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58786" y="4213741"/>
            <a:ext cx="11074123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Aneka</a:t>
            </a: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middleware for developing and executing distributed cloud applications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58786" y="4993501"/>
            <a:ext cx="11074123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CloudSim</a:t>
            </a: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simulation environment for cloud research and experimentation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58786" y="5568156"/>
            <a:ext cx="11074123" cy="1203920"/>
          </a:xfrm>
          <a:custGeom>
            <a:avLst/>
            <a:gdLst/>
            <a:ahLst/>
            <a:cxnLst/>
            <a:rect l="l" t="t" r="r" b="b"/>
            <a:pathLst>
              <a:path w="11074123" h="1203920">
                <a:moveTo>
                  <a:pt x="0" y="0"/>
                </a:moveTo>
                <a:lnTo>
                  <a:pt x="11074123" y="0"/>
                </a:lnTo>
                <a:lnTo>
                  <a:pt x="11074123" y="1088351"/>
                </a:lnTo>
                <a:arcTo wR="115567" hR="115570" stAng="0" swAng="5400000"/>
                <a:lnTo>
                  <a:pt x="115567" y="1203920"/>
                </a:lnTo>
                <a:arcTo wR="115567" hR="115570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7380" y="5798661"/>
            <a:ext cx="10616934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b="1" dirty="0">
                <a:solidFill>
                  <a:srgbClr val="1B1B1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Remember the distinction:</a:t>
            </a:r>
            <a:r>
              <a:rPr lang="en-US" sz="2100" dirty="0">
                <a:solidFill>
                  <a:srgbClr val="1B1B1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cloud platforms manage resources; CloudSim models them for experimentation.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58786" y="2433241"/>
            <a:ext cx="11074123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8786" y="3213001"/>
            <a:ext cx="11074123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8786" y="3992761"/>
            <a:ext cx="11074123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8786" y="4772521"/>
            <a:ext cx="11074123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8786" y="5552281"/>
            <a:ext cx="11074123" cy="31750"/>
          </a:xfrm>
          <a:prstGeom prst="rect">
            <a:avLst/>
          </a:prstGeom>
          <a:solidFill>
            <a:srgbClr val="1B1B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36798" y="6428780"/>
            <a:ext cx="35489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1171</Words>
  <Application>Microsoft Macintosh PowerPoint</Application>
  <PresentationFormat>Widescreen</PresentationFormat>
  <Paragraphs>218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Gabarito ExtraBold</vt:lpstr>
      <vt:lpstr>Figtree ExtraBold</vt:lpstr>
      <vt:lpstr>Urbanist SemiBold</vt:lpstr>
      <vt:lpstr>Arial</vt:lpstr>
      <vt:lpstr>Figtree Bold</vt:lpstr>
      <vt:lpstr>Urbanist ExtraBold</vt:lpstr>
      <vt:lpstr>Red Hat Mono Medium</vt:lpstr>
      <vt:lpstr>Figtree SemiBold</vt:lpstr>
      <vt:lpstr>Figtree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Sarith M</cp:lastModifiedBy>
  <cp:revision>14</cp:revision>
  <cp:lastPrinted>2026-10-08T14:10:40Z</cp:lastPrinted>
  <dcterms:created xsi:type="dcterms:W3CDTF">2026-10-08T09:05:53Z</dcterms:created>
  <dcterms:modified xsi:type="dcterms:W3CDTF">2026-10-08T14:14:29Z</dcterms:modified>
</cp:coreProperties>
</file>