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9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75"/>
  </p:normalViewPr>
  <p:slideViewPr>
    <p:cSldViewPr snapToGrid="0">
      <p:cViewPr varScale="1">
        <p:scale>
          <a:sx n="119" d="100"/>
          <a:sy n="119" d="100"/>
        </p:scale>
        <p:origin x="85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F5EDE19-24EC-4E49-9D9B-B195753E2840}" type="datetimeFigureOut">
              <a:rPr lang="en-US" smtClean="0"/>
              <a:t>9/24/26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886253A-84CA-EA4E-992F-24ACACA7AA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20780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86253A-84CA-EA4E-992F-24ACACA7AA9E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11486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A5BF38-53FE-B3BC-2A86-03243E7470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EA0D013-39E8-37DC-D247-38158D91E5E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E511EF-A7FD-053F-23F9-72352BE223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87D39-B8EF-E942-9BD8-0378F270D516}" type="datetimeFigureOut">
              <a:rPr lang="en-US" smtClean="0"/>
              <a:t>9/24/26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465A8A-913E-C093-9272-B31A7FE510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C02924-3C3D-533A-020F-EB51393EF4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20DC0B-1B80-C44D-86E2-95FE55894A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3169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D02857-5615-DDA2-F9BE-3EFCD4A46B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E69EF3-8F75-CD5E-C4BB-4B1ABDA5E6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8F1CE0-06B1-35C4-2A7C-266E0F2976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87D39-B8EF-E942-9BD8-0378F270D516}" type="datetimeFigureOut">
              <a:rPr lang="en-US" smtClean="0"/>
              <a:t>9/24/26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DE73C3-DA0C-161D-A1EF-E42E001A92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E67416-F46C-9AD0-6B8D-D01202010F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20DC0B-1B80-C44D-86E2-95FE55894A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82805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3DCAAB-546C-40EB-B4FD-3E911C2ECA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85F55-85DB-EEFF-DD90-068E26A74A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69505A-7573-3E60-3403-B1DD0F6F4F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87D39-B8EF-E942-9BD8-0378F270D516}" type="datetimeFigureOut">
              <a:rPr lang="en-US" smtClean="0"/>
              <a:t>9/24/26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B20FA9-8FD4-F36A-D90E-59664D3C17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B141B2-0EEB-23A5-BE52-36F1674D79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20DC0B-1B80-C44D-86E2-95FE55894A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5005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673E5E-B552-5565-AA21-C4CC310267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368D6F-9339-F702-D702-DD330199CC2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F053FFF-BD77-E5F9-BBD8-012D3CF920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C5C0F9-7CD4-EC4F-F70E-59CCFE9E43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87D39-B8EF-E942-9BD8-0378F270D516}" type="datetimeFigureOut">
              <a:rPr lang="en-US" smtClean="0"/>
              <a:t>9/24/26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8665D3-26A9-5873-244B-0FB24E8721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E7D2B0-17C1-17BB-A024-EC339E68B3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20DC0B-1B80-C44D-86E2-95FE55894A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24655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5F0E4F-29DC-370D-C497-F6D695B996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098993-97B1-A7CC-A2B8-8A659BFA75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B42633-B52D-16DC-E4C3-0FB644EB4C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9EB59A-FC30-5B8D-F8E0-2C026935EF6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8018FC0-4B9D-D6B9-C471-4DA85563726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40E000D-A727-CCEE-03AC-7B89F1DFFE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87D39-B8EF-E942-9BD8-0378F270D516}" type="datetimeFigureOut">
              <a:rPr lang="en-US" smtClean="0"/>
              <a:t>9/24/26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080BBD-7C6B-80EA-EEFC-E7126678FD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EB180AC-1678-2526-9255-FDE6ADF313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20DC0B-1B80-C44D-86E2-95FE55894A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04149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95F75E-F24C-B6CA-0513-0ED7EB7CC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3E998F7-3707-4565-5C72-FC61EA8048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87D39-B8EF-E942-9BD8-0378F270D516}" type="datetimeFigureOut">
              <a:rPr lang="en-US" smtClean="0"/>
              <a:t>9/24/26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330105-C7EF-677B-78F4-75A725B516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E4B071-EC5D-F301-B78E-4CB0224FD8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20DC0B-1B80-C44D-86E2-95FE55894A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83104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66B2872-B2F0-7241-B845-B6D7BC835B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87D39-B8EF-E942-9BD8-0378F270D516}" type="datetimeFigureOut">
              <a:rPr lang="en-US" smtClean="0"/>
              <a:t>9/24/26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4239D9B-E277-BC2F-9DF5-178A53A1E5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8082B4-1DE5-941F-BC0B-3970C04F1F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20DC0B-1B80-C44D-86E2-95FE55894A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71681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C9E97C-4890-553F-7FEF-6568F1C9E8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8AA035-20F5-290B-4ADA-F1CEF2D2E9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63306BE-5CB5-5058-4993-5C6787DFF5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340277-4137-D533-E121-95AFA3CFAB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87D39-B8EF-E942-9BD8-0378F270D516}" type="datetimeFigureOut">
              <a:rPr lang="en-US" smtClean="0"/>
              <a:t>9/24/26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629AFA-72B4-691B-7C00-230C3487D5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3628E5-2FD6-1484-44B5-F18A56F4E1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20DC0B-1B80-C44D-86E2-95FE55894A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80199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2B9020-61A5-25AE-50E5-89DF1AE1FB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4EE1BD0-4E67-EFA8-7341-B71505C9C991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B0F5A6-5A65-821C-36C5-EAF6C3D5A6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061523-A4F0-8BF9-A478-ACEB15C891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87D39-B8EF-E942-9BD8-0378F270D516}" type="datetimeFigureOut">
              <a:rPr lang="en-US" smtClean="0"/>
              <a:t>9/24/26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FF1B22-F568-59BB-559B-55F7680227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A971A6-4DE1-7260-1B0E-9300BFC1F9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20DC0B-1B80-C44D-86E2-95FE55894A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20162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C42A26-7732-7C2B-789F-5DB02956A0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4EB6E01-F8FD-DC24-A25F-1D0F26FA32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7B0057-2483-FAAD-F8EE-00442EE796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87D39-B8EF-E942-9BD8-0378F270D516}" type="datetimeFigureOut">
              <a:rPr lang="en-US" smtClean="0"/>
              <a:t>9/24/26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FF80B8-3C2C-3F3B-B47C-69235751D3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5E7F59-B358-D0FB-F28D-577469C2A8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20DC0B-1B80-C44D-86E2-95FE55894A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33253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7A60DA1-D3EF-A839-CA1F-3C36CC48207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0707A12-546B-89E8-9AD0-5A04A92D5F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2CFA8A-126E-BD4B-F206-0A755EA13D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87D39-B8EF-E942-9BD8-0378F270D516}" type="datetimeFigureOut">
              <a:rPr lang="en-US" smtClean="0"/>
              <a:t>9/24/26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F1B6F9-54C6-B38F-59CE-2D77C53597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E4AF81-545D-BD45-EB77-4DE12CE896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20DC0B-1B80-C44D-86E2-95FE55894A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71108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74FADFE-0FBC-8545-EECD-085642C507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B89431-8EF1-BECF-D093-54DBF537C3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8A4E9A-D193-1A90-8DE2-2D13C64E2AA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6287D39-B8EF-E942-9BD8-0378F270D516}" type="datetimeFigureOut">
              <a:rPr lang="en-US" smtClean="0"/>
              <a:t>9/24/26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D3E3F7-54EA-089C-B803-0AE5350E35B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DA0517-AC4C-D0BB-B392-6E3FC99CE6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720DC0B-1B80-C44D-86E2-95FE55894A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41322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538633-0BD7-2145-BCBB-BB2CB0EAEAF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IN" sz="6600" dirty="0"/>
              <a:t>Secure Distributed Data Storage in Cloud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E73A298-E260-09F5-FA46-5378AB4B952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01501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477852-F06D-E890-6048-4FEED93A08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Cryptography as a Primary Technique to Ensure Security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48C8A6-F50F-25D5-0D4B-FF2F67A047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dirty="0"/>
              <a:t>Cloud storage is always a third-party storage where the data is stored in multiple systems, and only service providers have access to all these data locations.</a:t>
            </a:r>
          </a:p>
          <a:p>
            <a:r>
              <a:rPr lang="en-IN" dirty="0"/>
              <a:t>Virtualization allows the sharing of resources by multiple users, thereby increasing the risk of an attack from any of the users leading to data theft. </a:t>
            </a:r>
          </a:p>
          <a:p>
            <a:r>
              <a:rPr lang="en-IN" dirty="0"/>
              <a:t>Storing sensitive data in the cloud requires some security measures to be taken to prevent information theft, unauthorized access, and nonrepudiation.</a:t>
            </a:r>
          </a:p>
          <a:p>
            <a:r>
              <a:rPr lang="en-IN" dirty="0"/>
              <a:t>Cryptography can be used as a direct solution for secure data storage.</a:t>
            </a:r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331482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38AB9E-AC7E-48B2-732F-2EB76A6DB1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Gartner’s Seven Cloud Computing Security Risks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3528BE-ACB0-124B-5898-736B8C6F87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Authentic user access</a:t>
            </a:r>
          </a:p>
          <a:p>
            <a:r>
              <a:rPr lang="en-IN" dirty="0"/>
              <a:t>SLA compliance</a:t>
            </a:r>
          </a:p>
          <a:p>
            <a:r>
              <a:rPr lang="en-IN" dirty="0"/>
              <a:t>Storage location</a:t>
            </a:r>
          </a:p>
          <a:p>
            <a:r>
              <a:rPr lang="en-IN" dirty="0"/>
              <a:t>Shared resources </a:t>
            </a:r>
          </a:p>
          <a:p>
            <a:r>
              <a:rPr lang="en-IN" dirty="0"/>
              <a:t>Data recovery</a:t>
            </a:r>
          </a:p>
          <a:p>
            <a:r>
              <a:rPr lang="en-IN" dirty="0"/>
              <a:t>Troubleshooting</a:t>
            </a:r>
          </a:p>
          <a:p>
            <a:r>
              <a:rPr lang="en-IN" dirty="0"/>
              <a:t>Long-term storage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58314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791364-E298-DA22-08F4-658CA3CC1B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Need for Data Security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C1EF37-CD17-C3BE-7C8F-E22669F0AC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/>
              <a:t>Security of the data is very important for companies, organizations, governments, and individuals.</a:t>
            </a:r>
          </a:p>
          <a:p>
            <a:r>
              <a:rPr lang="en-IN" dirty="0"/>
              <a:t>People are relying on the cloud to store their data due to its ease and economic method of storage</a:t>
            </a:r>
          </a:p>
          <a:p>
            <a:pPr lvl="1"/>
            <a:r>
              <a:rPr lang="en-IN" dirty="0"/>
              <a:t>hospital is storing its patient records, storage of personal identifiers such as biometric images or signatures</a:t>
            </a:r>
          </a:p>
          <a:p>
            <a:r>
              <a:rPr lang="en-IN" dirty="0"/>
              <a:t>Data security and privacy are very crucial to ensure national security as well as to retain business secrets.</a:t>
            </a:r>
          </a:p>
          <a:p>
            <a:endParaRPr lang="en-IN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0392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2827B4-F55A-68E4-7079-7A2C9226A0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Cloud Computing—Attacks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75BB11-4B1C-A0A5-0872-4A27F53ABF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IN" dirty="0"/>
              <a:t>A cloud is a distributed system that connects different machines over the Internet. </a:t>
            </a:r>
          </a:p>
          <a:p>
            <a:r>
              <a:rPr lang="en-IN" dirty="0"/>
              <a:t>It is prone to all attacks that occur in traditional networked architecture</a:t>
            </a:r>
          </a:p>
          <a:p>
            <a:r>
              <a:rPr lang="en-IN" dirty="0"/>
              <a:t>Virtualization of hardware also adds several internal threats. </a:t>
            </a:r>
          </a:p>
          <a:p>
            <a:pPr lvl="1"/>
            <a:r>
              <a:rPr lang="en-IN" dirty="0"/>
              <a:t>Denial of Service (DoS) Attack</a:t>
            </a:r>
          </a:p>
          <a:p>
            <a:pPr lvl="1"/>
            <a:r>
              <a:rPr lang="en-IN" dirty="0"/>
              <a:t>Side Channel Attack</a:t>
            </a:r>
          </a:p>
          <a:p>
            <a:pPr lvl="1"/>
            <a:r>
              <a:rPr lang="en-IN" dirty="0"/>
              <a:t>Man-in-the-Middle Attack</a:t>
            </a:r>
          </a:p>
          <a:p>
            <a:pPr lvl="1"/>
            <a:r>
              <a:rPr lang="en-IN" dirty="0"/>
              <a:t>Authentication Attack</a:t>
            </a:r>
          </a:p>
          <a:p>
            <a:pPr lvl="1"/>
            <a:r>
              <a:rPr lang="en-IN" dirty="0"/>
              <a:t>Inside Job Attack</a:t>
            </a:r>
          </a:p>
          <a:p>
            <a:pPr lvl="1"/>
            <a:r>
              <a:rPr lang="en-IN" dirty="0"/>
              <a:t>Insecure Interfaces and APIs</a:t>
            </a:r>
          </a:p>
          <a:p>
            <a:pPr lvl="1"/>
            <a:r>
              <a:rPr lang="en-IN" dirty="0"/>
              <a:t>Account/Service Hijacking</a:t>
            </a:r>
          </a:p>
          <a:p>
            <a:pPr lvl="1"/>
            <a:endParaRPr lang="en-IN" dirty="0"/>
          </a:p>
          <a:p>
            <a:endParaRPr lang="en-IN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34310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6217A7-3C90-2537-EA36-7CC642E936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86B8BB-EF3B-56BE-008F-29320F18D0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66E385F-A56D-4229-8C91-1DC602EBC4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65124"/>
            <a:ext cx="9826256" cy="6064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2705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F71FFB-A761-1766-77C0-7C1FEA9775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Cloud Data Security Requirements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93109D-3DF1-6743-F7AB-3DA012C942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Authentication</a:t>
            </a:r>
          </a:p>
          <a:p>
            <a:r>
              <a:rPr lang="en-IN" dirty="0"/>
              <a:t>Authorization</a:t>
            </a:r>
          </a:p>
          <a:p>
            <a:r>
              <a:rPr lang="en-IN" dirty="0"/>
              <a:t>Nonrepudiation</a:t>
            </a:r>
          </a:p>
          <a:p>
            <a:r>
              <a:rPr lang="en-IN" dirty="0"/>
              <a:t>Auditability</a:t>
            </a:r>
          </a:p>
          <a:p>
            <a:r>
              <a:rPr lang="en-IN" dirty="0"/>
              <a:t>Integrity</a:t>
            </a:r>
          </a:p>
          <a:p>
            <a:r>
              <a:rPr lang="en-IN" dirty="0"/>
              <a:t>Availability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53123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7274E8-83BE-F854-DEBA-4B9CF819FA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Cloud Security—Controls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6257B1-5023-9AB0-5386-9519A6866B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Resources are being shared among multiple users, there is always a chance of security threats from hackers outside and within the cloud computing system.</a:t>
            </a:r>
          </a:p>
          <a:p>
            <a:r>
              <a:rPr lang="en-IN" dirty="0"/>
              <a:t>Cloud security controls are a set of measures taken to prevent, reduce, or counter the damages caused by the attacks. </a:t>
            </a:r>
          </a:p>
          <a:p>
            <a:r>
              <a:rPr lang="en-IN" dirty="0"/>
              <a:t>Deterrent Controls</a:t>
            </a:r>
          </a:p>
          <a:p>
            <a:r>
              <a:rPr lang="en-IN" dirty="0"/>
              <a:t>Preventive Controls</a:t>
            </a:r>
          </a:p>
          <a:p>
            <a:r>
              <a:rPr lang="en-IN" dirty="0"/>
              <a:t>Detective Controls</a:t>
            </a:r>
          </a:p>
          <a:p>
            <a:r>
              <a:rPr lang="en-IN" dirty="0"/>
              <a:t>Corrective Controls</a:t>
            </a:r>
          </a:p>
          <a:p>
            <a:endParaRPr lang="en-IN" dirty="0"/>
          </a:p>
          <a:p>
            <a:endParaRPr lang="en-IN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37614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46007A-DCEF-015E-F248-B2F07758B9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Cloud Security Architecture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8620C8-1FFD-D054-E2CE-5A970FD1FB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Cloud computing is highly prone to security attacks. </a:t>
            </a:r>
          </a:p>
          <a:p>
            <a:r>
              <a:rPr lang="en-IN" dirty="0"/>
              <a:t>The attacks can occur from within the system as well as from outside. </a:t>
            </a:r>
          </a:p>
          <a:p>
            <a:r>
              <a:rPr lang="en-IN" dirty="0"/>
              <a:t>Inside attackers are maybe the authorized users of the cloud who share the resources with the victim user. </a:t>
            </a:r>
          </a:p>
          <a:p>
            <a:r>
              <a:rPr lang="en-IN" dirty="0"/>
              <a:t>Cloud providers, as well as consumers, should jointly enforce security measures to prevent heavy losses due to these attacks.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75264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A92B22-5AD8-D396-8D20-DA3D924B33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Cloud Security Provided by Service Providers/Customers at different levels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797F5A-6098-FB0D-1893-DE72A7059F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/>
              <a:t>Service provider is responsible for implementing security at the infrastructure level and platform level. </a:t>
            </a:r>
          </a:p>
          <a:p>
            <a:r>
              <a:rPr lang="en-IN" dirty="0"/>
              <a:t>This will include repeaters, routers, hubs, switches, hypervisors, operating systems, load balancers, firewalls, storage network management consoles, databases, message queues, DNS, directory services, and cloud API.</a:t>
            </a:r>
          </a:p>
          <a:p>
            <a:endParaRPr lang="en-IN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79446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59378F-BEDD-A011-35D0-1BD88FC7F7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Baseline to ensure the security standard of any service provider.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E51919-F541-C660-ED2C-C519112835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/>
            <a:r>
              <a:rPr lang="en-IN" dirty="0"/>
              <a:t>Adherence to security standards such as ISO 27001 or SSAE 1</a:t>
            </a:r>
          </a:p>
          <a:p>
            <a:pPr lvl="1"/>
            <a:r>
              <a:rPr lang="en-IN" sz="2400" dirty="0"/>
              <a:t>Disclosure of the mechanisms and precautions taken against known security threats and vulnerabilities.</a:t>
            </a:r>
          </a:p>
          <a:p>
            <a:pPr lvl="1"/>
            <a:r>
              <a:rPr lang="en-IN" sz="2400" dirty="0"/>
              <a:t>Release of the adopted security architecture, explaining the security implementations at the granular level.</a:t>
            </a:r>
          </a:p>
          <a:p>
            <a:pPr lvl="1"/>
            <a:r>
              <a:rPr lang="en-IN" dirty="0"/>
              <a:t>Automating several tasks such as logging, backing ups, and firewall updates.</a:t>
            </a:r>
          </a:p>
          <a:p>
            <a:pPr lvl="1"/>
            <a:r>
              <a:rPr lang="en-IN" sz="2400" dirty="0"/>
              <a:t>Correctly distinguishing and confirming the security policies to be followed by the users and providers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01840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743B33-61CB-4C66-3E97-64FD30BDBF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High-Level Cloud Architecture With Security Services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F4878D-0901-A206-9E6D-2EBCB92BC0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2974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A06D1D-8863-39BD-55BB-25F1E94052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Steps to improve the security of the cloud architecture.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729957-CB22-D8A2-3267-91F81C9F21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IN" dirty="0"/>
              <a:t>Architecture security by implementing security schemes for firewalls, routers, storage, DNS, etc.</a:t>
            </a:r>
          </a:p>
          <a:p>
            <a:r>
              <a:rPr lang="en-IN" dirty="0"/>
              <a:t>Identity management and access management by providing cryptographically secure authentication and authorization mechanisms.</a:t>
            </a:r>
          </a:p>
          <a:p>
            <a:r>
              <a:rPr lang="en-IN" dirty="0"/>
              <a:t>Automating firewall updates and intrusion detection rules by developing good learning algorithms.</a:t>
            </a:r>
          </a:p>
          <a:p>
            <a:r>
              <a:rPr lang="en-IN" dirty="0"/>
              <a:t>Encrypting the sensitive data before their storage and transmission.</a:t>
            </a:r>
          </a:p>
          <a:p>
            <a:r>
              <a:rPr lang="en-IN" dirty="0"/>
              <a:t>Accepting data from users who possess a valid authentication certificate.</a:t>
            </a:r>
          </a:p>
          <a:p>
            <a:r>
              <a:rPr lang="en-IN" dirty="0"/>
              <a:t>Logging each event happening within the system.</a:t>
            </a:r>
          </a:p>
          <a:p>
            <a:r>
              <a:rPr lang="en-IN" dirty="0"/>
              <a:t>Enabling continuous monitoring of the cloud resources and architecture.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40331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49488C-F609-DF25-EB1B-DFDF6F916F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Cloud Data Security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9BE20B-F268-4B38-0808-9DE84424DE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The data stored in the cloud is vulnerable to several attacks such as data theft, data leakage, and data corruption which will violate the declared security principles.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17455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684</Words>
  <Application>Microsoft Macintosh PowerPoint</Application>
  <PresentationFormat>Widescreen</PresentationFormat>
  <Paragraphs>73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Aptos</vt:lpstr>
      <vt:lpstr>Aptos Display</vt:lpstr>
      <vt:lpstr>Arial</vt:lpstr>
      <vt:lpstr>Office Theme</vt:lpstr>
      <vt:lpstr>Secure Distributed Data Storage in Cloud</vt:lpstr>
      <vt:lpstr>Cryptography as a Primary Technique to Ensure Security</vt:lpstr>
      <vt:lpstr>Gartner’s Seven Cloud Computing Security Risks</vt:lpstr>
      <vt:lpstr>Need for Data Security</vt:lpstr>
      <vt:lpstr>Cloud Computing—Attacks</vt:lpstr>
      <vt:lpstr>PowerPoint Presentation</vt:lpstr>
      <vt:lpstr>Cloud Data Security Requirements</vt:lpstr>
      <vt:lpstr>Cloud Security—Controls</vt:lpstr>
      <vt:lpstr>Cloud Security Architecture</vt:lpstr>
      <vt:lpstr>Cloud Security Provided by Service Providers/Customers at different levels</vt:lpstr>
      <vt:lpstr>Baseline to ensure the security standard of any service provider.</vt:lpstr>
      <vt:lpstr>High-Level Cloud Architecture With Security Services</vt:lpstr>
      <vt:lpstr>Steps to improve the security of the cloud architecture.</vt:lpstr>
      <vt:lpstr>Cloud Data Security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Sarith M</dc:creator>
  <cp:lastModifiedBy>Sarith M</cp:lastModifiedBy>
  <cp:revision>6</cp:revision>
  <dcterms:created xsi:type="dcterms:W3CDTF">2026-09-23T05:24:42Z</dcterms:created>
  <dcterms:modified xsi:type="dcterms:W3CDTF">2026-09-24T09:55:38Z</dcterms:modified>
</cp:coreProperties>
</file>