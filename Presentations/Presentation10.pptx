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12192000"/>
  <p:embeddedFontLst>
    <p:embeddedFont>
      <p:font typeface="Atkinson Hyperlegible" pitchFamily="2" charset="77"/>
      <p:regular r:id="rId23"/>
    </p:embeddedFont>
    <p:embeddedFont>
      <p:font typeface="Atkinson Hyperlegible Bold" pitchFamily="2" charset="77"/>
      <p:regular r:id="rId24"/>
      <p:bold r:id="rId25"/>
    </p:embeddedFont>
    <p:embeddedFont>
      <p:font typeface="DM Mono Medium" panose="020B0609040201040103" pitchFamily="49" charset="77"/>
      <p:regular r:id="rId26"/>
    </p:embeddedFont>
    <p:embeddedFont>
      <p:font typeface="Gabarito ExtraBold" panose="020F0502020204030204"/>
      <p:regular r:id="rId27"/>
      <p:bold r:id="rId28"/>
    </p:embeddedFont>
    <p:embeddedFont>
      <p:font typeface="Lexend" pitchFamily="2" charset="77"/>
      <p:regular r:id="rId29"/>
      <p:bold r:id="rId30"/>
      <p:italic r:id="rId31"/>
      <p:boldItalic r:id="rId32"/>
    </p:embeddedFont>
    <p:embeddedFont>
      <p:font typeface="Lexend SemiBold" pitchFamily="2" charset="77"/>
      <p:regular r:id="rId33"/>
      <p:bold r:id="rId34"/>
      <p:italic r:id="rId35"/>
      <p:boldItalic r:id="rId36"/>
    </p:embeddedFont>
    <p:embeddedFont>
      <p:font typeface="Martian Mono" panose="020B0009020000000004" pitchFamily="49" charset="0"/>
      <p:regular r:id="rId37"/>
      <p:bold r:id="rId38"/>
      <p:italic r:id="rId39"/>
      <p:boldItalic r:id="rId40"/>
    </p:embeddedFont>
    <p:embeddedFont>
      <p:font typeface="Martian Mono Medium" panose="020B0009020000000004" pitchFamily="49" charset="0"/>
      <p:regular r:id="rId41"/>
      <p:bold r:id="rId42"/>
      <p:italic r:id="rId43"/>
      <p:boldItalic r:id="rId44"/>
    </p:embeddedFont>
    <p:embeddedFont>
      <p:font typeface="Syne Bold" pitchFamily="2" charset="77"/>
      <p:regular r:id="rId45"/>
      <p:bold r:id="rId46"/>
      <p:italic r:id="rId47"/>
      <p:boldItalic r:id="rId48"/>
    </p:embeddedFont>
    <p:embeddedFont>
      <p:font typeface="Syne SemiBold" pitchFamily="2" charset="77"/>
      <p:regular r:id="rId49"/>
      <p:bold r:id="rId50"/>
      <p:italic r:id="rId51"/>
      <p:boldItalic r:id="rId5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font" Target="fonts/font25.fntdata"/><Relationship Id="rId50" Type="http://schemas.openxmlformats.org/officeDocument/2006/relationships/font" Target="fonts/font28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font" Target="fonts/font23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52" Type="http://schemas.openxmlformats.org/officeDocument/2006/relationships/font" Target="fonts/font3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font" Target="fonts/font2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2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font" Target="fonts/font24.fntdata"/><Relationship Id="rId20" Type="http://schemas.openxmlformats.org/officeDocument/2006/relationships/slide" Target="slides/slide19.xml"/><Relationship Id="rId41" Type="http://schemas.openxmlformats.org/officeDocument/2006/relationships/font" Target="fonts/font19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openxmlformats.org/officeDocument/2006/relationships/font" Target="fonts/font2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093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5E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69113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0990" y="1723549"/>
            <a:ext cx="408929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CLOUD FOUNDATIONS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0990" y="2072779"/>
            <a:ext cx="3708307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What is a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cloud platform?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80990" y="4247654"/>
            <a:ext cx="926978" cy="50701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0990" y="4531816"/>
            <a:ext cx="370830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On-demand IT services delivered over a network.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78275" y="464436"/>
            <a:ext cx="6705432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1C2B4A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Four building blocks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978275" y="1451570"/>
            <a:ext cx="3200320" cy="1804591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06870" y="2023070"/>
            <a:ext cx="274313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Compute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06870" y="2496383"/>
            <a:ext cx="274313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Run applications and virtual machines.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83388" y="1451570"/>
            <a:ext cx="3200320" cy="1804591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11982" y="2023070"/>
            <a:ext cx="274313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Storage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711982" y="2496383"/>
            <a:ext cx="274313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Store files, objects, VM disks, backups, and application data.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978275" y="3903861"/>
            <a:ext cx="3200320" cy="1804591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06870" y="4475361"/>
            <a:ext cx="274313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Platform services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06870" y="4948674"/>
            <a:ext cx="274313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Deploy applications without managing every server detail.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483388" y="3903861"/>
            <a:ext cx="3200320" cy="1804591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11982" y="4475361"/>
            <a:ext cx="274313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Content delivery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11982" y="4948674"/>
            <a:ext cx="274313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Cache and deliver content closer to users.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978275" y="5886252"/>
            <a:ext cx="6705432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1C2B4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Elasticity, pay-as-you-go pricing, automation, and global reach.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35544" y="1108670"/>
            <a:ext cx="685783" cy="685800"/>
          </a:xfrm>
          <a:prstGeom prst="ellipse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990" y="1280120"/>
            <a:ext cx="342891" cy="3429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9740656" y="1108670"/>
            <a:ext cx="685783" cy="685800"/>
          </a:xfrm>
          <a:prstGeom prst="ellipse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102" y="1280120"/>
            <a:ext cx="342891" cy="3429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235544" y="3560961"/>
            <a:ext cx="685783" cy="685800"/>
          </a:xfrm>
          <a:prstGeom prst="ellipse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990" y="3732411"/>
            <a:ext cx="342891" cy="3429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9740656" y="3560961"/>
            <a:ext cx="685783" cy="685800"/>
          </a:xfrm>
          <a:prstGeom prst="ellipse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2102" y="3732411"/>
            <a:ext cx="342891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55591" y="1465282"/>
            <a:ext cx="330191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THE PROVIDER LANDSCAPE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5591" y="1814513"/>
            <a:ext cx="2946326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Three major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cloud providers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55591" y="4649788"/>
            <a:ext cx="736482" cy="50701"/>
          </a:xfrm>
          <a:prstGeom prst="roundRect">
            <a:avLst>
              <a:gd name="adj" fmla="val 49999"/>
            </a:avLst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5591" y="4938077"/>
            <a:ext cx="2946326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Different names. Similar foundations.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40096" y="431800"/>
          <a:ext cx="7569011" cy="914400"/>
        </p:xfrm>
        <a:graphic>
          <a:graphicData uri="http://schemas.openxmlformats.org/drawingml/2006/table">
            <a:tbl>
              <a:tblPr/>
              <a:tblGrid>
                <a:gridCol w="1765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9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5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2B4A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Provider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2B4A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Positioning in this lesson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2B4A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Shared foundation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AWS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Broad portfolio of infrastructure and managed services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Compute, storage, networking, identity, monitoring, security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1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Google Cloud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Compute, data, AI, networking, and application services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Compute, storage, networking, identity, monitoring, security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84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Microsoft Azure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Cloud services integrated across Microsoft technologies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Compute, storage, networking, identity, monitoring, security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40096" y="1231682"/>
            <a:ext cx="7569011" cy="12700"/>
          </a:xfrm>
          <a:prstGeom prst="rect">
            <a:avLst/>
          </a:prstGeom>
          <a:solidFill>
            <a:srgbClr val="A9C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140096" y="2352825"/>
            <a:ext cx="7569011" cy="12700"/>
          </a:xfrm>
          <a:prstGeom prst="rect">
            <a:avLst/>
          </a:prstGeom>
          <a:solidFill>
            <a:srgbClr val="A9C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40096" y="3473969"/>
            <a:ext cx="7569011" cy="12700"/>
          </a:xfrm>
          <a:prstGeom prst="rect">
            <a:avLst/>
          </a:prstGeom>
          <a:solidFill>
            <a:srgbClr val="A9C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40096" y="4777145"/>
            <a:ext cx="7569011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1C2B4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Service names and features evolve. Check current documentation before deployment.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794235" y="6526510"/>
            <a:ext cx="39746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0990" y="1465282"/>
            <a:ext cx="368290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AWS SERVICE 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0990" y="1814513"/>
            <a:ext cx="3301917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How the pieces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work together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80990" y="4649788"/>
            <a:ext cx="825479" cy="50701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0990" y="4938077"/>
            <a:ext cx="3301917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One application, four service roles.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46486" y="431800"/>
            <a:ext cx="3428914" cy="2203648"/>
          </a:xfrm>
          <a:prstGeom prst="roundRect">
            <a:avLst>
              <a:gd name="adj" fmla="val 55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5081" y="660400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75081" y="980480"/>
            <a:ext cx="2971726" cy="19050"/>
          </a:xfrm>
          <a:prstGeom prst="rect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75081" y="1136650"/>
            <a:ext cx="29717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Amazon EC2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75081" y="1609963"/>
            <a:ext cx="297172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Virtual servers for flexible compute workloads.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80193" y="431800"/>
            <a:ext cx="3428914" cy="2203648"/>
          </a:xfrm>
          <a:prstGeom prst="roundRect">
            <a:avLst>
              <a:gd name="adj" fmla="val 55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8787" y="660400"/>
            <a:ext cx="8926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08787" y="980480"/>
            <a:ext cx="2971726" cy="19050"/>
          </a:xfrm>
          <a:prstGeom prst="rect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8787" y="1136650"/>
            <a:ext cx="29717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Amazon S3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08787" y="1609963"/>
            <a:ext cx="2971726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Scalable object storage for files, backups, data lakes, and static assets.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546486" y="2940248"/>
            <a:ext cx="3428914" cy="1937941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75081" y="3168848"/>
            <a:ext cx="897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75081" y="3488928"/>
            <a:ext cx="2971726" cy="19050"/>
          </a:xfrm>
          <a:prstGeom prst="rect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5081" y="3645098"/>
            <a:ext cx="29717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Amazon EBS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75081" y="4118412"/>
            <a:ext cx="297172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Persistent block-storage volumes for EC2 instances.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280193" y="2940248"/>
            <a:ext cx="3428914" cy="1937941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08787" y="3168848"/>
            <a:ext cx="9017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508787" y="3488928"/>
            <a:ext cx="2971726" cy="19050"/>
          </a:xfrm>
          <a:prstGeom prst="rect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08787" y="3645098"/>
            <a:ext cx="29717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Amazon CloudFront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508787" y="4118412"/>
            <a:ext cx="297172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Content delivery network (CDN) for low-latency delivery.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546486" y="5055989"/>
            <a:ext cx="7162621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1C2B4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Run the app on EC2, store images in S3, attach EBS for disk data, and use CloudFront to cache content.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787587" y="6526510"/>
            <a:ext cx="40410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55591" y="1387793"/>
            <a:ext cx="330191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COMPUTE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5591" y="1737023"/>
            <a:ext cx="2946326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What does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EC2 give you?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55591" y="4572298"/>
            <a:ext cx="736482" cy="50701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5591" y="4856460"/>
            <a:ext cx="294632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Resizable virtual servers called instances.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40096" y="464436"/>
            <a:ext cx="7569011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1C2B4A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Configure, scale, operate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40096" y="1108670"/>
            <a:ext cx="1663658" cy="3797895"/>
          </a:xfrm>
          <a:prstGeom prst="roundRect">
            <a:avLst>
              <a:gd name="adj" fmla="val 73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68691" y="1337270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68691" y="1657350"/>
            <a:ext cx="1206470" cy="19050"/>
          </a:xfrm>
          <a:prstGeom prst="rect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68691" y="1813520"/>
            <a:ext cx="120647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 · Choose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68691" y="2286833"/>
            <a:ext cx="1206470" cy="2391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Select an instance family for general purpose, compute, memory, storage, or accelerators.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108547" y="1108670"/>
            <a:ext cx="1663658" cy="3797895"/>
          </a:xfrm>
          <a:prstGeom prst="roundRect">
            <a:avLst>
              <a:gd name="adj" fmla="val 73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37141" y="1337270"/>
            <a:ext cx="8926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37141" y="1657350"/>
            <a:ext cx="1206470" cy="19050"/>
          </a:xfrm>
          <a:prstGeom prst="rect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7141" y="1813520"/>
            <a:ext cx="120647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 · Configure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37141" y="2617033"/>
            <a:ext cx="1206470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Set the AMI, instance type, storage, network, and security rules.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76998" y="1108670"/>
            <a:ext cx="1663658" cy="3797895"/>
          </a:xfrm>
          <a:prstGeom prst="roundRect">
            <a:avLst>
              <a:gd name="adj" fmla="val 73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05592" y="1337270"/>
            <a:ext cx="897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05592" y="1657350"/>
            <a:ext cx="1206470" cy="19050"/>
          </a:xfrm>
          <a:prstGeom prst="rect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05592" y="1813520"/>
            <a:ext cx="120647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 · Scale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05592" y="2286833"/>
            <a:ext cx="1206470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Resize instances or add instances horizontally.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10045449" y="1108670"/>
            <a:ext cx="1663658" cy="3797895"/>
          </a:xfrm>
          <a:prstGeom prst="roundRect">
            <a:avLst>
              <a:gd name="adj" fmla="val 73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274043" y="1337270"/>
            <a:ext cx="9017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274043" y="1657350"/>
            <a:ext cx="1206470" cy="19050"/>
          </a:xfrm>
          <a:prstGeom prst="rect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274043" y="1813520"/>
            <a:ext cx="120647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 · Operate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274043" y="2617033"/>
            <a:ext cx="1206470" cy="1859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for costs, security groups, patching, backups, and capacity.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140096" y="5088493"/>
            <a:ext cx="7569011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1C2B4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Use cases include web servers, development environments, application back ends, and batch processing.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781436" y="6526510"/>
            <a:ext cx="41025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62301" cy="686187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0990" y="1719977"/>
            <a:ext cx="35813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OBJECT STORAGE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0990" y="2069207"/>
            <a:ext cx="320032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What belongs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in S3?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80990" y="4244082"/>
            <a:ext cx="800080" cy="50701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0990" y="4528245"/>
            <a:ext cx="320032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Objects inside buckets, accessed as a collection.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48084" y="431800"/>
            <a:ext cx="3428914" cy="599827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05272" y="889953"/>
            <a:ext cx="2514537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Store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05272" y="1428055"/>
            <a:ext cx="2514537" cy="4058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Objects inside buckets, accessed as a collection.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Uses: images, documents, logs, backups, static website assets, and analytics data.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Good fit: large collections of objects and data that applications read through storage APIs.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1790" y="431800"/>
            <a:ext cx="3428914" cy="599827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38979" y="889953"/>
            <a:ext cx="2514537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Control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838979" y="1428055"/>
            <a:ext cx="2514537" cy="4544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Access can be controlled with IAM policies, bucket policies, and related safeguards.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Storage classes support different access patterns and cost profiles.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Versioning and lifecycle rules can help protect data and manage costs.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S3 object storage differs from a disk attached to a virtual machine.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86198" y="6526510"/>
            <a:ext cx="40549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55591" y="1387793"/>
            <a:ext cx="330191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BLOCK STORAGE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5591" y="1737023"/>
            <a:ext cx="2946326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When does EC2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need EBS?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55591" y="4572298"/>
            <a:ext cx="736482" cy="50701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5591" y="4856460"/>
            <a:ext cx="294632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When a workload needs a persistent virtual disk.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40096" y="431800"/>
          <a:ext cx="7569011" cy="914400"/>
        </p:xfrm>
        <a:graphic>
          <a:graphicData uri="http://schemas.openxmlformats.org/drawingml/2006/table">
            <a:tbl>
              <a:tblPr/>
              <a:tblGrid>
                <a:gridCol w="2119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2B4A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Question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2B4A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Amazon EBS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2B4A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Amazon S3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5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Storage model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Block-storage volume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Object storage in buckets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1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Typical role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Boot volumes, databases, file systems, application data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Images, documents, logs, backups, static assets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1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Workload relationship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Acts like a virtual disk an operating system can format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Stores objects accessed through storage services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70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Operational choices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Volume type, performance, throughput, cost, snapshots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Storage class, access control, versioning, lifecycle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40096" y="923119"/>
            <a:ext cx="7569011" cy="12700"/>
          </a:xfrm>
          <a:prstGeom prst="rect">
            <a:avLst/>
          </a:prstGeom>
          <a:solidFill>
            <a:srgbClr val="A9C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140096" y="1735700"/>
            <a:ext cx="7569011" cy="12700"/>
          </a:xfrm>
          <a:prstGeom prst="rect">
            <a:avLst/>
          </a:prstGeom>
          <a:solidFill>
            <a:srgbClr val="A9C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40096" y="2856844"/>
            <a:ext cx="7569011" cy="12700"/>
          </a:xfrm>
          <a:prstGeom prst="rect">
            <a:avLst/>
          </a:prstGeom>
          <a:solidFill>
            <a:srgbClr val="A9C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40096" y="3977988"/>
            <a:ext cx="7569011" cy="12700"/>
          </a:xfrm>
          <a:prstGeom prst="rect">
            <a:avLst/>
          </a:prstGeom>
          <a:solidFill>
            <a:srgbClr val="A9C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40096" y="5589746"/>
            <a:ext cx="805159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1C2B4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EBS is block storage for workloads; S3 is object storage.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783916" y="6526510"/>
            <a:ext cx="40777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0990" y="1717993"/>
            <a:ext cx="368290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CONTENT DELIVERY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0990" y="2067223"/>
            <a:ext cx="3301917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How does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CloudFront help?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80990" y="4242098"/>
            <a:ext cx="825479" cy="50701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0990" y="4526260"/>
            <a:ext cx="330191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It moves cached content closer to viewers.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46486" y="464436"/>
            <a:ext cx="7162621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00" kern="100" spc="-54" dirty="0">
                <a:solidFill>
                  <a:srgbClr val="1C2B4A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Origin → edge → viewer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46486" y="1108670"/>
            <a:ext cx="2387540" cy="2824262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46486" y="1108670"/>
            <a:ext cx="2387540" cy="914400"/>
          </a:xfrm>
          <a:prstGeom prst="rect">
            <a:avLst/>
          </a:prstGeom>
          <a:solidFill>
            <a:srgbClr val="BCD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46486" y="1108670"/>
            <a:ext cx="2387540" cy="914400"/>
          </a:xfrm>
          <a:prstGeom prst="rect">
            <a:avLst/>
          </a:prstGeom>
          <a:solidFill>
            <a:srgbClr val="D6F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3364" y="1394420"/>
            <a:ext cx="76327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24344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1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775081" y="2103398"/>
            <a:ext cx="193035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Origin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75081" y="2641739"/>
            <a:ext cx="1930352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S3 bucket or web server holds the source content.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934027" y="1108670"/>
            <a:ext cx="2387540" cy="2824262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34027" y="1108670"/>
            <a:ext cx="2387540" cy="914400"/>
          </a:xfrm>
          <a:prstGeom prst="rect">
            <a:avLst/>
          </a:prstGeom>
          <a:solidFill>
            <a:srgbClr val="BCD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34027" y="1108670"/>
            <a:ext cx="2387540" cy="914400"/>
          </a:xfrm>
          <a:prstGeom prst="rect">
            <a:avLst/>
          </a:prstGeom>
          <a:solidFill>
            <a:srgbClr val="D6F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27291" y="1394420"/>
            <a:ext cx="81059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24344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162621" y="2103398"/>
            <a:ext cx="193035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Edge location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62621" y="2641739"/>
            <a:ext cx="1930352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CloudFront caches content closer to viewers.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321567" y="1108670"/>
            <a:ext cx="2387540" cy="2824262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321567" y="1108670"/>
            <a:ext cx="2387540" cy="914400"/>
          </a:xfrm>
          <a:prstGeom prst="rect">
            <a:avLst/>
          </a:prstGeom>
          <a:solidFill>
            <a:srgbClr val="BCD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321567" y="1108670"/>
            <a:ext cx="2387540" cy="914400"/>
          </a:xfrm>
          <a:prstGeom prst="rect">
            <a:avLst/>
          </a:prstGeom>
          <a:solidFill>
            <a:srgbClr val="D6F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411557" y="1394420"/>
            <a:ext cx="81704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700" b="1" dirty="0">
                <a:solidFill>
                  <a:srgbClr val="24344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3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550161" y="2103398"/>
            <a:ext cx="193035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Viewer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550161" y="2641739"/>
            <a:ext cx="1930352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Images, videos, downloads, APIs, and websites arrive with lower latency.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546486" y="4110732"/>
            <a:ext cx="7162621" cy="11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1C2B4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CloudFront can reduce origin load and improve delivery. Example: a college website stores media in S3 and distributes it through CloudFront.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797310" y="6526510"/>
            <a:ext cx="39438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0990" y="1349792"/>
            <a:ext cx="368290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GOOGLE CLOUD PLATFORM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0990" y="1699022"/>
            <a:ext cx="3301917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What sits inside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Google Cloud?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80990" y="4534297"/>
            <a:ext cx="825479" cy="50701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0990" y="4822587"/>
            <a:ext cx="3301917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Infrastructure and managed services on Google's global network.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46486" y="673100"/>
            <a:ext cx="3428914" cy="1804591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5081" y="1244600"/>
            <a:ext cx="29717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Compute Engine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75081" y="1717913"/>
            <a:ext cx="320032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Virtual machines.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80193" y="673100"/>
            <a:ext cx="3428914" cy="1804591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8787" y="1244600"/>
            <a:ext cx="29717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App Engine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08787" y="1717913"/>
            <a:ext cx="297172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Managed application platform, or PaaS.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546486" y="3125391"/>
            <a:ext cx="3428914" cy="1804591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5081" y="3696891"/>
            <a:ext cx="29717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Cloud Storage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75081" y="4170204"/>
            <a:ext cx="320032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Object storage.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80193" y="3125391"/>
            <a:ext cx="3428914" cy="1804591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8787" y="3696891"/>
            <a:ext cx="29717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Foundations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8787" y="4170204"/>
            <a:ext cx="297172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Projects, IAM, billing, APIs, and networking.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46486" y="5111909"/>
            <a:ext cx="7162621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1C2B4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Gmail and Google Drive are Google Workspace applications, not core GCP infrastructure services.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81337" y="6526510"/>
            <a:ext cx="41035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18052" y="330200"/>
            <a:ext cx="685783" cy="685800"/>
          </a:xfrm>
          <a:prstGeom prst="ellipse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498" y="501650"/>
            <a:ext cx="342891" cy="3429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9651759" y="330200"/>
            <a:ext cx="685783" cy="685800"/>
          </a:xfrm>
          <a:prstGeom prst="ellipse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3204" y="501650"/>
            <a:ext cx="342891" cy="3429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918052" y="2782491"/>
            <a:ext cx="685783" cy="685800"/>
          </a:xfrm>
          <a:prstGeom prst="ellipse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498" y="2953941"/>
            <a:ext cx="342891" cy="3429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9651759" y="2782491"/>
            <a:ext cx="685783" cy="685800"/>
          </a:xfrm>
          <a:prstGeom prst="ellipse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3204" y="2953941"/>
            <a:ext cx="342891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55591" y="1233507"/>
            <a:ext cx="330191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GOOGLE CLOUD COMPUTE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5591" y="1582738"/>
            <a:ext cx="2946326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What can you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configure in GCE?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55591" y="4418013"/>
            <a:ext cx="736482" cy="50701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5591" y="4702175"/>
            <a:ext cx="2946326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Operating-system-level control on Google's infrastructure.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40096" y="431800"/>
            <a:ext cx="1663658" cy="2735064"/>
          </a:xfrm>
          <a:prstGeom prst="roundRect">
            <a:avLst>
              <a:gd name="adj" fmla="val 73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68691" y="660400"/>
            <a:ext cx="861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68691" y="980480"/>
            <a:ext cx="1206470" cy="19050"/>
          </a:xfrm>
          <a:prstGeom prst="rect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68691" y="1136650"/>
            <a:ext cx="120647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Machine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68691" y="1609963"/>
            <a:ext cx="1206470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Choose machine family, CPU, and memory.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108547" y="431800"/>
            <a:ext cx="1663658" cy="2735064"/>
          </a:xfrm>
          <a:prstGeom prst="roundRect">
            <a:avLst>
              <a:gd name="adj" fmla="val 73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37141" y="660400"/>
            <a:ext cx="89264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37141" y="980480"/>
            <a:ext cx="1206470" cy="19050"/>
          </a:xfrm>
          <a:prstGeom prst="rect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37141" y="1136650"/>
            <a:ext cx="120647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System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37141" y="1609963"/>
            <a:ext cx="1206470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Choose boot disk and operating-system image.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76998" y="431800"/>
            <a:ext cx="1663658" cy="2735064"/>
          </a:xfrm>
          <a:prstGeom prst="roundRect">
            <a:avLst>
              <a:gd name="adj" fmla="val 73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05592" y="660400"/>
            <a:ext cx="897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05592" y="980480"/>
            <a:ext cx="1206470" cy="19050"/>
          </a:xfrm>
          <a:prstGeom prst="rect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05592" y="1136650"/>
            <a:ext cx="120647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Network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05592" y="1609963"/>
            <a:ext cx="1206470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Configure networking and the surrounding environment.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10045449" y="431800"/>
            <a:ext cx="1663658" cy="2735064"/>
          </a:xfrm>
          <a:prstGeom prst="roundRect">
            <a:avLst>
              <a:gd name="adj" fmla="val 732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274043" y="660400"/>
            <a:ext cx="9017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274043" y="980480"/>
            <a:ext cx="1206470" cy="19050"/>
          </a:xfrm>
          <a:prstGeom prst="rect">
            <a:avLst/>
          </a:prstGeom>
          <a:solidFill>
            <a:srgbClr val="19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274043" y="1136650"/>
            <a:ext cx="120647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Operate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274043" y="1609963"/>
            <a:ext cx="1206470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Manage OS configuration, patching, applications, and scaling.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140096" y="3348791"/>
            <a:ext cx="7569011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1C2B4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Use cases include web servers, enterprise applications, development/test, and custom software stacks. Comparable services: Amazon EC2 and Azure Virtual Machines.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783916" y="6526510"/>
            <a:ext cx="40777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0990" y="1233507"/>
            <a:ext cx="368290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PLATFORM AS A SERVICE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0990" y="1582738"/>
            <a:ext cx="3301917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When is App Engine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FFFFF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a better fit?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80990" y="4418013"/>
            <a:ext cx="825479" cy="50701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0990" y="4702175"/>
            <a:ext cx="330191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When developers want to deploy code without managing virtual machines directly.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46486" y="431800"/>
          <a:ext cx="7162621" cy="4975894"/>
        </p:xfrm>
        <a:graphic>
          <a:graphicData uri="http://schemas.openxmlformats.org/drawingml/2006/table">
            <a:tbl>
              <a:tblPr/>
              <a:tblGrid>
                <a:gridCol w="2005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8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2B4A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Choice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2B4A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Google App Engine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C2B4A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Compute Engine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5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Model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Platform-as-a-service for applications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Configurable virtual machines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1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Developer focus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Deploy code with less infrastructure management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Choose machines, disks, OS images, and networking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97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Scaling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Automatic scaling within the selected environment and configuration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Scale by configuring and operating VM resources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84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Typical fit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Web applications, APIs, and managed runtime needs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44F"/>
                          </a:solidFill>
                          <a:latin typeface="Atkinson Hyperlegible" pitchFamily="34" charset="0"/>
                          <a:ea typeface="Atkinson Hyperlegible" pitchFamily="34" charset="-122"/>
                          <a:cs typeface="Atkinson Hyperlegible" pitchFamily="34" charset="-120"/>
                        </a:rPr>
                        <a:t>Workloads requiring operating-system-level control</a:t>
                      </a:r>
                      <a:endParaRPr lang="en-US" sz="1800" dirty="0">
                        <a:latin typeface="Atkinson Hyperlegible" charset="0"/>
                        <a:ea typeface="Atkinson Hyperlegible" charset="0"/>
                        <a:cs typeface="Atkinson Hyperlegible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46486" y="923119"/>
            <a:ext cx="7162621" cy="12700"/>
          </a:xfrm>
          <a:prstGeom prst="rect">
            <a:avLst/>
          </a:prstGeom>
          <a:solidFill>
            <a:srgbClr val="A9C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46486" y="1735700"/>
            <a:ext cx="7162621" cy="12700"/>
          </a:xfrm>
          <a:prstGeom prst="rect">
            <a:avLst/>
          </a:prstGeom>
          <a:solidFill>
            <a:srgbClr val="A9C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46486" y="2856844"/>
            <a:ext cx="7162621" cy="12700"/>
          </a:xfrm>
          <a:prstGeom prst="rect">
            <a:avLst/>
          </a:prstGeom>
          <a:solidFill>
            <a:srgbClr val="A9C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8"/>
          <p:cNvSpPr/>
          <p:nvPr/>
        </p:nvSpPr>
        <p:spPr>
          <a:xfrm>
            <a:off x="4546486" y="4286551"/>
            <a:ext cx="7162621" cy="12700"/>
          </a:xfrm>
          <a:prstGeom prst="rect">
            <a:avLst/>
          </a:prstGeom>
          <a:solidFill>
            <a:srgbClr val="A9C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46486" y="5589746"/>
            <a:ext cx="7162621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1C2B4A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Standard and flexible environments offer different runtime and configuration choices. More abstraction means less infrastructure control.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13780" y="6526510"/>
            <a:ext cx="37791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24344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GOOGLE CLOUD · STORAGE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1675"/>
            <a:ext cx="1097252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Google Cloud Storage keeps unstructured data in buckets.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896904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Object storage for files and datasets that applications do not treat like a disk.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625130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2726730"/>
            <a:ext cx="355591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7269" y="2404547"/>
            <a:ext cx="46099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Objects in buckets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57269" y="2822615"/>
            <a:ext cx="460998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Store images, videos, documents, backups, and datasets as objects inside buckets.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324442" y="2625130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039" y="2726730"/>
            <a:ext cx="355591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72126" y="2404547"/>
            <a:ext cx="46099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Storage classes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972126" y="2822615"/>
            <a:ext cx="460998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Choose classes for different access frequencies and cost needs.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09585" y="4116586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82" y="4218186"/>
            <a:ext cx="355591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57269" y="3896003"/>
            <a:ext cx="46099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Controlled access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257269" y="4314071"/>
            <a:ext cx="460998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IAM and bucket-level settings control who can access the data.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324442" y="4116586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6039" y="4218186"/>
            <a:ext cx="355591" cy="355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72126" y="3896003"/>
            <a:ext cx="46099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Common uses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6972126" y="4314071"/>
            <a:ext cx="460998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Media storage, backups, analytics data, and application assets.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609585" y="5106789"/>
            <a:ext cx="5410065" cy="1015206"/>
          </a:xfrm>
          <a:prstGeom prst="roundRect">
            <a:avLst>
              <a:gd name="adj" fmla="val 15011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838179" y="5347772"/>
            <a:ext cx="51814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000000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COMPARABLE SERVICE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38179" y="5636300"/>
            <a:ext cx="495287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Amazon S3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6172046" y="5106789"/>
            <a:ext cx="5410065" cy="1015206"/>
          </a:xfrm>
          <a:prstGeom prst="roundRect">
            <a:avLst>
              <a:gd name="adj" fmla="val 15011"/>
            </a:avLst>
          </a:prstGeom>
          <a:solidFill>
            <a:srgbClr val="1E23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6400640" y="5347772"/>
            <a:ext cx="51814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COMPARABLE SERVICE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400640" y="5636300"/>
            <a:ext cx="495287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Azure Blob Storage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6089498" y="2387402"/>
            <a:ext cx="12700" cy="1262856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609585" y="3643908"/>
            <a:ext cx="5486263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6089498" y="3650258"/>
            <a:ext cx="12700" cy="1262856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095848" y="3643908"/>
            <a:ext cx="5486263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GOOGLE WORKSPACE · PRODUCTIVITY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1675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Gmail and Google Drive are cloud-delivered applications.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500386"/>
            <a:ext cx="5410065" cy="2631877"/>
          </a:xfrm>
          <a:prstGeom prst="roundRect">
            <a:avLst>
              <a:gd name="adj" fmla="val 5790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728986"/>
            <a:ext cx="431789" cy="43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8179" y="2287786"/>
            <a:ext cx="960910" cy="326132"/>
          </a:xfrm>
          <a:prstGeom prst="roundRect">
            <a:avLst>
              <a:gd name="adj" fmla="val 49999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90575" y="2349127"/>
            <a:ext cx="12657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EMAIL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38179" y="2720598"/>
            <a:ext cx="495287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Gmail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38179" y="3195876"/>
            <a:ext cx="518147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Provides email and collaboration features.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172046" y="1500386"/>
            <a:ext cx="5410065" cy="2631877"/>
          </a:xfrm>
          <a:prstGeom prst="roundRect">
            <a:avLst>
              <a:gd name="adj" fmla="val 5790"/>
            </a:avLst>
          </a:prstGeom>
          <a:solidFill>
            <a:srgbClr val="2E9B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640" y="1728986"/>
            <a:ext cx="431789" cy="431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640" y="2287786"/>
            <a:ext cx="960910" cy="326132"/>
          </a:xfrm>
          <a:prstGeom prst="roundRect">
            <a:avLst>
              <a:gd name="adj" fmla="val 49999"/>
            </a:avLst>
          </a:prstGeom>
          <a:solidFill>
            <a:srgbClr val="2E9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553036" y="2349127"/>
            <a:ext cx="12657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FILES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00640" y="2720598"/>
            <a:ext cx="495287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Google Drive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400640" y="3195876"/>
            <a:ext cx="495287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Provides cloud file storage, sharing, and collaboration.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09585" y="4338320"/>
            <a:ext cx="355591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OFFERED AS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09585" y="4626848"/>
            <a:ext cx="355591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Google Workspace services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09585" y="5044916"/>
            <a:ext cx="3555911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Alongside consumer offerings. GCP provides infrastructure; Workspace delivers productivity applications.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317892" y="4338320"/>
            <a:ext cx="355591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SERVICE MODEL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317892" y="4626848"/>
            <a:ext cx="355591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SaaS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317892" y="5044916"/>
            <a:ext cx="355591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complete application over the internet.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8026199" y="4338320"/>
            <a:ext cx="355591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KEY DISTINCTION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026199" y="4626848"/>
            <a:ext cx="3555911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Productivity, not infrastructure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026199" y="5319157"/>
            <a:ext cx="3555911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They are not direct equivalents of Compute Engine or Cloud Storage.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MICROSOFT AZURE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1675"/>
            <a:ext cx="1097252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Azure connects infrastructure, applications, data, and hybrid cloud.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891506"/>
            <a:ext cx="3555911" cy="2654697"/>
          </a:xfrm>
          <a:prstGeom prst="roundRect">
            <a:avLst>
              <a:gd name="adj" fmla="val 5741"/>
            </a:avLst>
          </a:prstGeom>
          <a:solidFill>
            <a:srgbClr val="1E23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120106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696051"/>
            <a:ext cx="309872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Compute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8179" y="3114119"/>
            <a:ext cx="309872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Azure Virtual Machines: on-demand virtual servers.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17892" y="1891506"/>
            <a:ext cx="3555911" cy="2654697"/>
          </a:xfrm>
          <a:prstGeom prst="roundRect">
            <a:avLst>
              <a:gd name="adj" fmla="val 5741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486" y="2120106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46486" y="2696051"/>
            <a:ext cx="309872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Storage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46486" y="3114119"/>
            <a:ext cx="309872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Azure Storage: Blob, Files, Queues, and Tables.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026199" y="1891506"/>
            <a:ext cx="3555911" cy="2654697"/>
          </a:xfrm>
          <a:prstGeom prst="roundRect">
            <a:avLst>
              <a:gd name="adj" fmla="val 5741"/>
            </a:avLst>
          </a:prstGeom>
          <a:solidFill>
            <a:srgbClr val="1E23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4793" y="2120106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4793" y="2696051"/>
            <a:ext cx="309872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Hybrid foundation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54793" y="3114119"/>
            <a:ext cx="3098722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Azure integrates Microsoft identity, Windows Server, management tools, and hybrid environments.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09585" y="4739878"/>
            <a:ext cx="5410065" cy="1775222"/>
          </a:xfrm>
          <a:prstGeom prst="roundRect">
            <a:avLst>
              <a:gd name="adj" fmla="val 858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838179" y="4980861"/>
            <a:ext cx="51814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IMPORTANT DISTINCTION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38179" y="5269389"/>
            <a:ext cx="495287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Hyper-V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8179" y="5687457"/>
            <a:ext cx="495287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Microsoft's virtualization technology and hypervisor—not itself an Azure VM service.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172046" y="4739878"/>
            <a:ext cx="5410065" cy="1775222"/>
          </a:xfrm>
          <a:prstGeom prst="roundRect">
            <a:avLst>
              <a:gd name="adj" fmla="val 858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400640" y="4980861"/>
            <a:ext cx="518147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EXAMPLE WORKLOAD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640" y="5269389"/>
            <a:ext cx="495287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Application + documents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400640" y="5687457"/>
            <a:ext cx="495287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Run an application on an Azure VM; store documents in Blob Storage.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AZURE · COMPUTE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1675"/>
            <a:ext cx="1097252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Azure Virtual Machines are the service; Hyper-V is the virtualization layer.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891506"/>
            <a:ext cx="5333867" cy="3939580"/>
          </a:xfrm>
          <a:prstGeom prst="roundRect">
            <a:avLst>
              <a:gd name="adj" fmla="val 3868"/>
            </a:avLst>
          </a:prstGeom>
          <a:solidFill>
            <a:srgbClr val="176B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8179" y="2120106"/>
            <a:ext cx="2010518" cy="326132"/>
          </a:xfrm>
          <a:prstGeom prst="roundRect">
            <a:avLst>
              <a:gd name="adj" fmla="val 49999"/>
            </a:avLst>
          </a:prstGeom>
          <a:solidFill>
            <a:srgbClr val="2E9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575" y="2181447"/>
            <a:ext cx="231531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AZURE SERVICE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179" y="2552918"/>
            <a:ext cx="487667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Azure Virtual Machines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179" y="3022798"/>
            <a:ext cx="4876678" cy="2579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Scalable compute in Azure data centers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Choose VM size, operating system image, disks, networking, and security settings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Run Windows or Linux servers, enterprise applications, testing, and migration workloads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Customers manage the VM through Azure services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8244" y="1891506"/>
            <a:ext cx="5333867" cy="3939580"/>
          </a:xfrm>
          <a:prstGeom prst="roundRect">
            <a:avLst>
              <a:gd name="adj" fmla="val 3868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76838" y="2120106"/>
            <a:ext cx="3585081" cy="326132"/>
          </a:xfrm>
          <a:prstGeom prst="roundRect">
            <a:avLst>
              <a:gd name="adj" fmla="val 49999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29234" y="2181447"/>
            <a:ext cx="388987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VIRTUALIZATION TECHNOLOGY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76838" y="2552918"/>
            <a:ext cx="487667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Hyper-V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76838" y="3022798"/>
            <a:ext cx="4876678" cy="1619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type-1 hypervisor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Creates and manages VMs on supported hosts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Customers typically do not manage the underlying hypervisor directly in Azure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585" y="6030159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COMPARABLE COMPUTE · AMAZON EC2 · GOOGLE COMPUTE ENGINE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AZURE · STORAGE 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1675"/>
            <a:ext cx="1097252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Choose Azure storage by the way data is modeled and accessed.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2129234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2230834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57269" y="1908651"/>
            <a:ext cx="46099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Blob Storage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57269" y="2326719"/>
            <a:ext cx="460998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Object storage for unstructured data, media, backups, and data lakes.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324442" y="2129234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039" y="2230834"/>
            <a:ext cx="355591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72126" y="1908651"/>
            <a:ext cx="46099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Azure Files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972126" y="2326719"/>
            <a:ext cx="460998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Managed file shares.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09585" y="3620691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82" y="3722291"/>
            <a:ext cx="355591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7269" y="3400108"/>
            <a:ext cx="46099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Queue Storage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257269" y="3818176"/>
            <a:ext cx="460998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Messages for asynchronous application workflows.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324442" y="3620691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6039" y="3722291"/>
            <a:ext cx="355591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72126" y="3400108"/>
            <a:ext cx="46099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Table Storage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972126" y="3818176"/>
            <a:ext cx="460998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NoSQL key/attribute store for structured, non-relational data.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609585" y="5112147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182" y="5213747"/>
            <a:ext cx="355591" cy="355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57269" y="4891564"/>
            <a:ext cx="46099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Managed disks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257269" y="5309632"/>
            <a:ext cx="483857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Block storage for Azure Virtual Machines.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6324442" y="5112147"/>
            <a:ext cx="558786" cy="55880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6039" y="5213747"/>
            <a:ext cx="355591" cy="355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72126" y="4891564"/>
            <a:ext cx="46099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Selection criteria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6972126" y="5309632"/>
            <a:ext cx="460998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Data model, access method, performance, redundancy, and cost.</a:t>
            </a:r>
            <a:endParaRPr lang="en-US" sz="1700" dirty="0"/>
          </a:p>
        </p:txBody>
      </p:sp>
      <p:sp>
        <p:nvSpPr>
          <p:cNvPr id="28" name="Shape 20"/>
          <p:cNvSpPr/>
          <p:nvPr/>
        </p:nvSpPr>
        <p:spPr>
          <a:xfrm>
            <a:off x="6089498" y="1891506"/>
            <a:ext cx="12700" cy="1262856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609585" y="3148013"/>
            <a:ext cx="5486263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6089498" y="3154363"/>
            <a:ext cx="12700" cy="1491456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6095848" y="3148013"/>
            <a:ext cx="5486263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609585" y="4639469"/>
            <a:ext cx="5486263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6089498" y="4645819"/>
            <a:ext cx="12700" cy="1262856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6095848" y="4639469"/>
            <a:ext cx="5486263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COMPARE THE COMPUTE EQUIVALENTS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1675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All three providers offer configurable virtual machines.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09585" y="1500386"/>
          <a:ext cx="10972526" cy="914400"/>
        </p:xfrm>
        <a:graphic>
          <a:graphicData uri="http://schemas.openxmlformats.org/drawingml/2006/table">
            <a:tbl>
              <a:tblPr/>
              <a:tblGrid>
                <a:gridCol w="2413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6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00" spc="72" dirty="0">
                          <a:solidFill>
                            <a:srgbClr val="1E2328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PROVIDER</a:t>
                      </a:r>
                      <a:endParaRPr lang="en-US" sz="12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00" spc="72" dirty="0">
                          <a:solidFill>
                            <a:srgbClr val="1E2328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SERVICE</a:t>
                      </a:r>
                      <a:endParaRPr lang="en-US" sz="12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00" spc="72" dirty="0">
                          <a:solidFill>
                            <a:srgbClr val="1E2328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WHAT IT OFFERS</a:t>
                      </a:r>
                      <a:endParaRPr lang="en-US" sz="12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AWS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Amazon EC2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Configurable virtual machine instances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Google Cloud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Compute Engine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Configurable virtual machines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8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Microsoft Azure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Azure Virtual Machines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Configurable virtual machines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3771940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All offer choices of CPU, memory, OS, networking, disks, and scaling approaches.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09585" y="4262438"/>
            <a:ext cx="3555911" cy="1005681"/>
          </a:xfrm>
          <a:prstGeom prst="roundRect">
            <a:avLst>
              <a:gd name="adj" fmla="val 15153"/>
            </a:avLst>
          </a:prstGeom>
          <a:solidFill>
            <a:srgbClr val="2E9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4"/>
          <p:cNvSpPr/>
          <p:nvPr/>
        </p:nvSpPr>
        <p:spPr>
          <a:xfrm>
            <a:off x="838179" y="4508183"/>
            <a:ext cx="309872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CPU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17892" y="4262438"/>
            <a:ext cx="3555911" cy="1005681"/>
          </a:xfrm>
          <a:prstGeom prst="roundRect">
            <a:avLst>
              <a:gd name="adj" fmla="val 15153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46486" y="4508183"/>
            <a:ext cx="309872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Memory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026199" y="4262438"/>
            <a:ext cx="3555911" cy="1005681"/>
          </a:xfrm>
          <a:prstGeom prst="roundRect">
            <a:avLst>
              <a:gd name="adj" fmla="val 15153"/>
            </a:avLst>
          </a:prstGeom>
          <a:solidFill>
            <a:srgbClr val="1E23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54793" y="4508183"/>
            <a:ext cx="3098722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OS · networking · disks · scaling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09585" y="5467191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Choose based on workload, skills and licenses, regional availability, integrations, and total cost.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COMPARE STORAGE BY ACCESS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1675"/>
            <a:ext cx="1097252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Object storage and block storage solve different problems.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09585" y="1891506"/>
          <a:ext cx="10972526" cy="914400"/>
        </p:xfrm>
        <a:graphic>
          <a:graphicData uri="http://schemas.openxmlformats.org/drawingml/2006/table">
            <a:tbl>
              <a:tblPr/>
              <a:tblGrid>
                <a:gridCol w="2633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2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8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00" spc="72" dirty="0">
                          <a:solidFill>
                            <a:srgbClr val="1E2328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STORAGE PATTERN</a:t>
                      </a:r>
                      <a:endParaRPr lang="en-US" sz="12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00" spc="72" dirty="0">
                          <a:solidFill>
                            <a:srgbClr val="1E2328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AWS</a:t>
                      </a:r>
                      <a:endParaRPr lang="en-US" sz="12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00" spc="72" dirty="0">
                          <a:solidFill>
                            <a:srgbClr val="1E2328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GOOGLE CLOUD</a:t>
                      </a:r>
                      <a:endParaRPr lang="en-US" sz="12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00" spc="72" dirty="0">
                          <a:solidFill>
                            <a:srgbClr val="1E2328"/>
                          </a:solidFill>
                          <a:latin typeface="Martian Mono" pitchFamily="34" charset="0"/>
                          <a:ea typeface="Martian Mono" pitchFamily="34" charset="-122"/>
                          <a:cs typeface="Martian Mono" pitchFamily="34" charset="-120"/>
                        </a:rPr>
                        <a:t>MICROSOFT AZURE</a:t>
                      </a:r>
                      <a:endParaRPr lang="en-US" sz="1200" dirty="0">
                        <a:latin typeface="Martian Mono" charset="0"/>
                        <a:ea typeface="Martian Mono" charset="0"/>
                        <a:cs typeface="Martian Mono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7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Object storage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Amazon S3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Google Cloud Storage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Azure Blob Storage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9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Block storage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Amazon EBS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Google Persistent Disk / Hyperdisk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Azure Managed Disks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Shared-file storage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Managed file services support shared-file storage patterns.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52396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4256683"/>
            <a:ext cx="5410065" cy="1491456"/>
          </a:xfrm>
          <a:prstGeom prst="roundRect">
            <a:avLst>
              <a:gd name="adj" fmla="val 10218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38179" y="4502428"/>
            <a:ext cx="495287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Object storage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8179" y="4920496"/>
            <a:ext cx="495287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Collections of objects such as media, backups, and datasets.</a:t>
            </a:r>
            <a:endParaRPr lang="en-US" sz="1700" dirty="0"/>
          </a:p>
        </p:txBody>
      </p:sp>
      <p:sp>
        <p:nvSpPr>
          <p:cNvPr id="4" name="Shape 5"/>
          <p:cNvSpPr/>
          <p:nvPr/>
        </p:nvSpPr>
        <p:spPr>
          <a:xfrm>
            <a:off x="6172046" y="4256683"/>
            <a:ext cx="5410065" cy="1491456"/>
          </a:xfrm>
          <a:prstGeom prst="roundRect">
            <a:avLst>
              <a:gd name="adj" fmla="val 10218"/>
            </a:avLst>
          </a:prstGeom>
          <a:solidFill>
            <a:srgbClr val="1E23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640" y="4502428"/>
            <a:ext cx="495287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Block storage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640" y="4920496"/>
            <a:ext cx="518147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VM disks and low-level disk access.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09585" y="5947212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COMPARE · PERFORMANCE · ACCESS CONTROL · LIFECYCLE · REDUNDANCY · PRICING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CLOUD SERVICE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1675"/>
            <a:ext cx="1097252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As you move from IaaS toward SaaS, customer responsibility generally decreases.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891506"/>
            <a:ext cx="3454314" cy="3605213"/>
          </a:xfrm>
          <a:prstGeom prst="roundRect">
            <a:avLst>
              <a:gd name="adj" fmla="val 4412"/>
            </a:avLst>
          </a:prstGeom>
          <a:solidFill>
            <a:srgbClr val="A9D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8179" y="2120106"/>
            <a:ext cx="1879355" cy="326132"/>
          </a:xfrm>
          <a:prstGeom prst="roundRect">
            <a:avLst>
              <a:gd name="adj" fmla="val 49999"/>
            </a:avLst>
          </a:prstGeom>
          <a:solidFill>
            <a:srgbClr val="2E9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575" y="2181447"/>
            <a:ext cx="218414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MOST CONTROL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179" y="2552918"/>
            <a:ext cx="299712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IaaS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179" y="3028196"/>
            <a:ext cx="299712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Rent compute, storage, and networking.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8179" y="3762573"/>
            <a:ext cx="29971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Examples: EC2, Compute Engine, Azure Virtual Machines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1" y="1891506"/>
            <a:ext cx="3454314" cy="3605213"/>
          </a:xfrm>
          <a:prstGeom prst="roundRect">
            <a:avLst>
              <a:gd name="adj" fmla="val 4412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97285" y="2120106"/>
            <a:ext cx="1354500" cy="326132"/>
          </a:xfrm>
          <a:prstGeom prst="roundRect">
            <a:avLst>
              <a:gd name="adj" fmla="val 49999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49681" y="2181447"/>
            <a:ext cx="165929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BALANCED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97285" y="2552918"/>
            <a:ext cx="299712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PaaS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7285" y="3028196"/>
            <a:ext cx="299712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Deploy application code with less infrastructure management.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7285" y="4064794"/>
            <a:ext cx="3225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Example: Google App Engine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27797" y="1891506"/>
            <a:ext cx="3454314" cy="3605213"/>
          </a:xfrm>
          <a:prstGeom prst="roundRect">
            <a:avLst>
              <a:gd name="adj" fmla="val 4412"/>
            </a:avLst>
          </a:prstGeom>
          <a:solidFill>
            <a:srgbClr val="B6E5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56391" y="2120106"/>
            <a:ext cx="2010518" cy="326132"/>
          </a:xfrm>
          <a:prstGeom prst="roundRect">
            <a:avLst>
              <a:gd name="adj" fmla="val 49999"/>
            </a:avLst>
          </a:prstGeom>
          <a:solidFill>
            <a:srgbClr val="39B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8787" y="2181447"/>
            <a:ext cx="231531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82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LEAST CONTROL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56391" y="2552918"/>
            <a:ext cx="299712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SaaS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56391" y="3028196"/>
            <a:ext cx="299712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 a complete application over the internet.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56391" y="3762573"/>
            <a:ext cx="3225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Examples: Gmail and Google Drive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9585" y="5702776"/>
            <a:ext cx="54100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CLASSIFY THE 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585" y="5991304"/>
            <a:ext cx="541006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Vendor is not enough.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72046" y="5702776"/>
            <a:ext cx="54100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ASK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046" y="5991304"/>
            <a:ext cx="541006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What level of control does the workload need?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771128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SCENARIO-BASED ACTIVITY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1675"/>
            <a:ext cx="7101702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Choose the service or model that fits each workload.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2018506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287" y="2099469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14397" y="2054066"/>
            <a:ext cx="659689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Host a Linux web server with full OS control. Which service fits?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2907109"/>
            <a:ext cx="377816" cy="377825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4154" y="2988072"/>
            <a:ext cx="87816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14397" y="2942669"/>
            <a:ext cx="659689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Store millions of photos and serve them globally. Which storage and CDN services fit?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9585" y="3795713"/>
            <a:ext cx="378907" cy="378916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3558" y="3877171"/>
            <a:ext cx="88054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15489" y="3831769"/>
            <a:ext cx="659579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Deploy a web app while minimizing server administration. Which platform model fits?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9585" y="4684812"/>
            <a:ext cx="395178" cy="395188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3558" y="4774406"/>
            <a:ext cx="89681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31760" y="4729004"/>
            <a:ext cx="657952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Attach a persistent virtual disk to a VM. Which storage type is needed?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9585" y="5582047"/>
            <a:ext cx="391210" cy="391220"/>
          </a:xfrm>
          <a:prstGeom prst="ellipse">
            <a:avLst/>
          </a:prstGeom>
          <a:solidFill>
            <a:srgbClr val="F25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3558" y="5669657"/>
            <a:ext cx="89284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Syne SemiBold" pitchFamily="34" charset="0"/>
                <a:ea typeface="Syne SemiBold" pitchFamily="34" charset="-122"/>
                <a:cs typeface="Syne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27791" y="5624255"/>
            <a:ext cx="658349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Provide email and document collaboration to staff. Is this IaaS, PaaS, or SaaS?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25565" y="0"/>
            <a:ext cx="3566130" cy="6959898"/>
          </a:xfrm>
          <a:prstGeom prst="roundRect">
            <a:avLst>
              <a:gd name="adj" fmla="val 427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149" y="2814935"/>
            <a:ext cx="2346961" cy="132992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09585" y="2773759"/>
            <a:ext cx="7101702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09585" y="3662363"/>
            <a:ext cx="7101702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9585" y="4551462"/>
            <a:ext cx="7101702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09585" y="5448697"/>
            <a:ext cx="7101702" cy="12700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1675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b="1" kern="100" spc="-42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Match the service to the workload, not just the vendor.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500386"/>
            <a:ext cx="3657509" cy="2047677"/>
          </a:xfrm>
          <a:prstGeom prst="roundRect">
            <a:avLst>
              <a:gd name="adj" fmla="val 744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576586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152531"/>
            <a:ext cx="320032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Compute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8179" y="2570599"/>
            <a:ext cx="320032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EC2, Compute Engine, and Azure Virtual Machines are comparable VM services.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67093" y="1500386"/>
            <a:ext cx="3657509" cy="2047677"/>
          </a:xfrm>
          <a:prstGeom prst="roundRect">
            <a:avLst>
              <a:gd name="adj" fmla="val 7442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688" y="1576586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95688" y="2152531"/>
            <a:ext cx="320032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Object storage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495688" y="2570599"/>
            <a:ext cx="320032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S3, Cloud Storage, and Azure Blob Storage store collections of objects.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924602" y="1500386"/>
            <a:ext cx="3657509" cy="2047677"/>
          </a:xfrm>
          <a:prstGeom prst="roundRect">
            <a:avLst>
              <a:gd name="adj" fmla="val 744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196" y="1576586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3196" y="2152531"/>
            <a:ext cx="320032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Block storage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53196" y="2570599"/>
            <a:ext cx="320032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EBS and managed disks provide block storage for VM workloads.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09585" y="3548063"/>
            <a:ext cx="3657509" cy="2047677"/>
          </a:xfrm>
          <a:prstGeom prst="roundRect">
            <a:avLst>
              <a:gd name="adj" fmla="val 7442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79" y="3624263"/>
            <a:ext cx="431789" cy="431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8179" y="4200208"/>
            <a:ext cx="320032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CDN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38179" y="4618276"/>
            <a:ext cx="34289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CloudFront is AWS's CDN.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267093" y="3548063"/>
            <a:ext cx="3657509" cy="2047677"/>
          </a:xfrm>
          <a:prstGeom prst="roundRect">
            <a:avLst>
              <a:gd name="adj" fmla="val 744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5688" y="3624263"/>
            <a:ext cx="431789" cy="431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95688" y="4200208"/>
            <a:ext cx="320032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SaaS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4495688" y="4618276"/>
            <a:ext cx="320032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Gmail and Google Drive are SaaS productivity services.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7924602" y="3548063"/>
            <a:ext cx="3657509" cy="2047677"/>
          </a:xfrm>
          <a:prstGeom prst="roundRect">
            <a:avLst>
              <a:gd name="adj" fmla="val 7442"/>
            </a:avLst>
          </a:prstGeom>
          <a:solidFill>
            <a:srgbClr val="FFC5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3196" y="3624263"/>
            <a:ext cx="431789" cy="431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53196" y="4200208"/>
            <a:ext cx="320032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Selection criteria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8153196" y="4618276"/>
            <a:ext cx="320032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Workload, control requirements, security needs, and budget.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609585" y="5794812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AWS · GOOGLE CLOUD · AZURE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1828</Words>
  <Application>Microsoft Macintosh PowerPoint</Application>
  <PresentationFormat>Widescreen</PresentationFormat>
  <Paragraphs>352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Lexend SemiBold</vt:lpstr>
      <vt:lpstr>Lexend</vt:lpstr>
      <vt:lpstr>Gabarito ExtraBold</vt:lpstr>
      <vt:lpstr>Martian Mono</vt:lpstr>
      <vt:lpstr>Syne Bold</vt:lpstr>
      <vt:lpstr>DM Mono Medium</vt:lpstr>
      <vt:lpstr>Atkinson Hyperlegible</vt:lpstr>
      <vt:lpstr>Syne SemiBold</vt:lpstr>
      <vt:lpstr>Martian Mono Medium</vt:lpstr>
      <vt:lpstr>Atkinson Hyperlegible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Sarith M</cp:lastModifiedBy>
  <cp:revision>2</cp:revision>
  <dcterms:created xsi:type="dcterms:W3CDTF">2026-10-11T13:57:18Z</dcterms:created>
  <dcterms:modified xsi:type="dcterms:W3CDTF">2026-10-11T14:10:25Z</dcterms:modified>
</cp:coreProperties>
</file>